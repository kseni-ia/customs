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134959840" r:id="rId3"/>
    <p:sldId id="2134959845" r:id="rId4"/>
    <p:sldId id="2134959846" r:id="rId5"/>
    <p:sldId id="2134959847" r:id="rId6"/>
    <p:sldId id="2134959842" r:id="rId7"/>
    <p:sldId id="2134959841" r:id="rId8"/>
    <p:sldId id="2134959843" r:id="rId9"/>
    <p:sldId id="2134959849" r:id="rId10"/>
    <p:sldId id="2134959855" r:id="rId11"/>
    <p:sldId id="2134959852" r:id="rId12"/>
    <p:sldId id="2134959866" r:id="rId13"/>
    <p:sldId id="2134959853" r:id="rId14"/>
    <p:sldId id="2134959858" r:id="rId15"/>
    <p:sldId id="2134959859" r:id="rId16"/>
    <p:sldId id="2134959860" r:id="rId17"/>
    <p:sldId id="2134959854" r:id="rId18"/>
    <p:sldId id="2134959848" r:id="rId19"/>
    <p:sldId id="2134959856" r:id="rId20"/>
    <p:sldId id="2134959857" r:id="rId21"/>
    <p:sldId id="2134959851" r:id="rId22"/>
    <p:sldId id="2134959844" r:id="rId23"/>
    <p:sldId id="2134959850" r:id="rId24"/>
    <p:sldId id="2134959867" r:id="rId25"/>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ýchozí oddíl" id="{294EF7CF-08F1-441D-AF62-C009B1E4B6D6}">
          <p14:sldIdLst>
            <p14:sldId id="256"/>
            <p14:sldId id="2134959840"/>
            <p14:sldId id="2134959845"/>
            <p14:sldId id="2134959846"/>
            <p14:sldId id="2134959847"/>
            <p14:sldId id="2134959842"/>
            <p14:sldId id="2134959841"/>
            <p14:sldId id="2134959843"/>
            <p14:sldId id="2134959849"/>
            <p14:sldId id="2134959855"/>
            <p14:sldId id="2134959852"/>
            <p14:sldId id="2134959866"/>
            <p14:sldId id="2134959853"/>
            <p14:sldId id="2134959858"/>
            <p14:sldId id="2134959859"/>
            <p14:sldId id="2134959860"/>
            <p14:sldId id="2134959854"/>
            <p14:sldId id="2134959848"/>
            <p14:sldId id="2134959856"/>
            <p14:sldId id="2134959857"/>
            <p14:sldId id="2134959851"/>
            <p14:sldId id="2134959844"/>
            <p14:sldId id="2134959850"/>
            <p14:sldId id="21349598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snapToGrid="0">
      <p:cViewPr varScale="1">
        <p:scale>
          <a:sx n="150" d="100"/>
          <a:sy n="150" d="100"/>
        </p:scale>
        <p:origin x="726" y="1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dirty="0"/>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31D40-61D8-470C-9DEA-D181C1B35A68}" type="datetimeFigureOut">
              <a:rPr lang="cs-CZ" smtClean="0"/>
              <a:t>11.09.2026</a:t>
            </a:fld>
            <a:endParaRPr lang="cs-CZ" dirty="0"/>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dirty="0"/>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dirty="0"/>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805C59-202F-4351-BE19-042A5C2AB2D6}" type="slidenum">
              <a:rPr lang="cs-CZ" smtClean="0"/>
              <a:t>‹#›</a:t>
            </a:fld>
            <a:endParaRPr lang="cs-CZ" dirty="0"/>
          </a:p>
        </p:txBody>
      </p:sp>
    </p:spTree>
    <p:extLst>
      <p:ext uri="{BB962C8B-B14F-4D97-AF65-F5344CB8AC3E}">
        <p14:creationId xmlns:p14="http://schemas.microsoft.com/office/powerpoint/2010/main" val="178795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cs-CZ" dirty="0"/>
          </a:p>
        </p:txBody>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fld id="{19805C59-202F-4351-BE19-042A5C2AB2D6}" type="slidenum">
              <a:rPr lang="cs-CZ" smtClean="0"/>
              <a:t>1</a:t>
            </a:fld>
            <a:endParaRPr lang="cs-CZ" dirty="0"/>
          </a:p>
        </p:txBody>
      </p:sp>
    </p:spTree>
    <p:extLst>
      <p:ext uri="{BB962C8B-B14F-4D97-AF65-F5344CB8AC3E}">
        <p14:creationId xmlns:p14="http://schemas.microsoft.com/office/powerpoint/2010/main" val="3519458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cs-CZ"/>
          </a:p>
        </p:txBody>
      </p:sp>
      <p:sp>
        <p:nvSpPr>
          <p:cNvPr id="3" name="Zástupný symbol pro poznámky 2"/>
          <p:cNvSpPr>
            <a:spLocks noGrp="1"/>
          </p:cNvSpPr>
          <p:nvPr>
            <p:ph type="body" idx="1"/>
          </p:nvPr>
        </p:nvSpPr>
        <p:spPr/>
        <p:txBody>
          <a:bodyPr/>
          <a:lstStyle/>
          <a:p>
            <a:r>
              <a:rPr lang="cs-CZ" dirty="0"/>
              <a:t>8471 PC..9403 počítač. skříně</a:t>
            </a:r>
          </a:p>
        </p:txBody>
      </p:sp>
      <p:sp>
        <p:nvSpPr>
          <p:cNvPr id="4" name="Zástupný symbol pro číslo snímku 3"/>
          <p:cNvSpPr>
            <a:spLocks noGrp="1"/>
          </p:cNvSpPr>
          <p:nvPr>
            <p:ph type="sldNum" sz="quarter" idx="5"/>
          </p:nvPr>
        </p:nvSpPr>
        <p:spPr/>
        <p:txBody>
          <a:bodyPr/>
          <a:lstStyle/>
          <a:p>
            <a:fld id="{19805C59-202F-4351-BE19-042A5C2AB2D6}" type="slidenum">
              <a:rPr lang="cs-CZ" smtClean="0"/>
              <a:t>9</a:t>
            </a:fld>
            <a:endParaRPr lang="cs-CZ"/>
          </a:p>
        </p:txBody>
      </p:sp>
    </p:spTree>
    <p:extLst>
      <p:ext uri="{BB962C8B-B14F-4D97-AF65-F5344CB8AC3E}">
        <p14:creationId xmlns:p14="http://schemas.microsoft.com/office/powerpoint/2010/main" val="2495185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txBody>
          <a:bodyPr/>
          <a:lstStyle/>
          <a:p>
            <a:endParaRPr lang="cs-CZ"/>
          </a:p>
        </p:txBody>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fld id="{19805C59-202F-4351-BE19-042A5C2AB2D6}" type="slidenum">
              <a:rPr lang="cs-CZ" smtClean="0"/>
              <a:t>10</a:t>
            </a:fld>
            <a:endParaRPr lang="cs-CZ"/>
          </a:p>
        </p:txBody>
      </p:sp>
    </p:spTree>
    <p:extLst>
      <p:ext uri="{BB962C8B-B14F-4D97-AF65-F5344CB8AC3E}">
        <p14:creationId xmlns:p14="http://schemas.microsoft.com/office/powerpoint/2010/main" val="203597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C416017-072F-6FD0-9A91-5BA44C0BD206}"/>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24E728A1-A319-1C82-1764-3AABFDD91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2A5AED1C-BF03-4DA5-D758-E6FF0F28A692}"/>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84A449EF-0F3E-6FDA-D47F-67470895CF39}"/>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FE6BBAD7-6DAE-AC3A-79BB-281CAAD5FCDA}"/>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1334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A59C8C3-0D7D-7BDA-C855-BE03B0B7B029}"/>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75D2C14A-0B5B-E7FA-6D96-B1458485E2B3}"/>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089E1691-387C-8889-EE85-3026F6DD3ABE}"/>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1010001A-A51B-9923-B4EA-9B995167D9CC}"/>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38CD10B1-6671-7A52-7FEC-19330869F528}"/>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256830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71647E5-7B80-3F91-AD17-6F5D256BBDDA}"/>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F39E34D2-DE07-7A86-9D65-8620C75A2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9DF15E44-F2E5-7B7C-6ECB-AF1C7F202263}"/>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5E18AA7D-826A-CEC1-AC0D-479E7120DB0A}"/>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28BFA5BF-D3F4-45D1-3AB1-5E015468EADE}"/>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3052042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CA76939-72FF-6791-8C83-53A1E1ECEFA4}"/>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A47F80C2-CB88-8382-00CB-A56F805F97A0}"/>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5726B36B-0ECF-72E3-2118-B5E252156D63}"/>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B3E90CF4-2F3D-655B-7D74-4ECE8C926200}"/>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6" name="Zástupný symbol pro zápatí 5">
            <a:extLst>
              <a:ext uri="{FF2B5EF4-FFF2-40B4-BE49-F238E27FC236}">
                <a16:creationId xmlns:a16="http://schemas.microsoft.com/office/drawing/2014/main" id="{873EF657-FA6C-6885-ECC0-30670D3EAB60}"/>
              </a:ext>
            </a:extLst>
          </p:cNvPr>
          <p:cNvSpPr>
            <a:spLocks noGrp="1"/>
          </p:cNvSpPr>
          <p:nvPr>
            <p:ph type="ftr" sz="quarter" idx="11"/>
          </p:nvPr>
        </p:nvSpPr>
        <p:spPr/>
        <p:txBody>
          <a:bodyPr/>
          <a:lstStyle/>
          <a:p>
            <a:endParaRPr lang="cs-CZ" dirty="0"/>
          </a:p>
        </p:txBody>
      </p:sp>
      <p:sp>
        <p:nvSpPr>
          <p:cNvPr id="7" name="Zástupný symbol pro číslo snímku 6">
            <a:extLst>
              <a:ext uri="{FF2B5EF4-FFF2-40B4-BE49-F238E27FC236}">
                <a16:creationId xmlns:a16="http://schemas.microsoft.com/office/drawing/2014/main" id="{4EC3B967-D255-65B1-7CAB-BFC0DD403A4F}"/>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184804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3775D46-4878-046E-9FD7-5B6119643952}"/>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7FA1395E-6A3A-9BC7-C819-AF987A534E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C3B44BF8-B1A3-2B29-ACA8-F3BA0C809DC9}"/>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C406D183-17AE-70D7-5FAD-5AB5C6AFDB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75921B14-F23B-02DC-C87C-0DE999E83AC9}"/>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D5D3D126-9D5B-A7C9-9B2A-00B5A62BED27}"/>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8" name="Zástupný symbol pro zápatí 7">
            <a:extLst>
              <a:ext uri="{FF2B5EF4-FFF2-40B4-BE49-F238E27FC236}">
                <a16:creationId xmlns:a16="http://schemas.microsoft.com/office/drawing/2014/main" id="{72CE14F3-72F7-F6ED-0FC8-4D1ADCED4A90}"/>
              </a:ext>
            </a:extLst>
          </p:cNvPr>
          <p:cNvSpPr>
            <a:spLocks noGrp="1"/>
          </p:cNvSpPr>
          <p:nvPr>
            <p:ph type="ftr" sz="quarter" idx="11"/>
          </p:nvPr>
        </p:nvSpPr>
        <p:spPr/>
        <p:txBody>
          <a:bodyPr/>
          <a:lstStyle/>
          <a:p>
            <a:endParaRPr lang="cs-CZ" dirty="0"/>
          </a:p>
        </p:txBody>
      </p:sp>
      <p:sp>
        <p:nvSpPr>
          <p:cNvPr id="9" name="Zástupný symbol pro číslo snímku 8">
            <a:extLst>
              <a:ext uri="{FF2B5EF4-FFF2-40B4-BE49-F238E27FC236}">
                <a16:creationId xmlns:a16="http://schemas.microsoft.com/office/drawing/2014/main" id="{4D73B5AD-C087-E35C-DFCE-3DBB153B1AAD}"/>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367933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A77532C-8ED7-5CA3-F3E4-5E96524AEAA8}"/>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376C127F-4B97-3AF1-B1E9-DAC5661454C1}"/>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4" name="Zástupný symbol pro zápatí 3">
            <a:extLst>
              <a:ext uri="{FF2B5EF4-FFF2-40B4-BE49-F238E27FC236}">
                <a16:creationId xmlns:a16="http://schemas.microsoft.com/office/drawing/2014/main" id="{8F95F449-82CB-0C10-3B82-E891ACE51804}"/>
              </a:ext>
            </a:extLst>
          </p:cNvPr>
          <p:cNvSpPr>
            <a:spLocks noGrp="1"/>
          </p:cNvSpPr>
          <p:nvPr>
            <p:ph type="ftr" sz="quarter" idx="11"/>
          </p:nvPr>
        </p:nvSpPr>
        <p:spPr/>
        <p:txBody>
          <a:bodyPr/>
          <a:lstStyle/>
          <a:p>
            <a:endParaRPr lang="cs-CZ" dirty="0"/>
          </a:p>
        </p:txBody>
      </p:sp>
      <p:sp>
        <p:nvSpPr>
          <p:cNvPr id="5" name="Zástupný symbol pro číslo snímku 4">
            <a:extLst>
              <a:ext uri="{FF2B5EF4-FFF2-40B4-BE49-F238E27FC236}">
                <a16:creationId xmlns:a16="http://schemas.microsoft.com/office/drawing/2014/main" id="{F5495100-07B9-118E-7EE8-B059B6B3C7FE}"/>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2782372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B342B3EA-B79E-B79B-5718-2ACDE9B66D89}"/>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3" name="Zástupný symbol pro zápatí 2">
            <a:extLst>
              <a:ext uri="{FF2B5EF4-FFF2-40B4-BE49-F238E27FC236}">
                <a16:creationId xmlns:a16="http://schemas.microsoft.com/office/drawing/2014/main" id="{913CA6B2-5C4D-34CE-2F32-D2B375CFDE61}"/>
              </a:ext>
            </a:extLst>
          </p:cNvPr>
          <p:cNvSpPr>
            <a:spLocks noGrp="1"/>
          </p:cNvSpPr>
          <p:nvPr>
            <p:ph type="ftr" sz="quarter" idx="11"/>
          </p:nvPr>
        </p:nvSpPr>
        <p:spPr/>
        <p:txBody>
          <a:bodyPr/>
          <a:lstStyle/>
          <a:p>
            <a:endParaRPr lang="cs-CZ" dirty="0"/>
          </a:p>
        </p:txBody>
      </p:sp>
      <p:sp>
        <p:nvSpPr>
          <p:cNvPr id="4" name="Zástupný symbol pro číslo snímku 3">
            <a:extLst>
              <a:ext uri="{FF2B5EF4-FFF2-40B4-BE49-F238E27FC236}">
                <a16:creationId xmlns:a16="http://schemas.microsoft.com/office/drawing/2014/main" id="{028731CA-358B-2FC6-0392-AA7298C291E6}"/>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415312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29CC02B-B1E1-5A71-A780-540B70155E76}"/>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0A93ABA9-56FC-DBCA-38F6-E8A411700A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0C314DA8-7F36-E0A8-6189-75ACFC497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E5361346-AF4E-855F-0DDB-C3A299EEE77F}"/>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6" name="Zástupný symbol pro zápatí 5">
            <a:extLst>
              <a:ext uri="{FF2B5EF4-FFF2-40B4-BE49-F238E27FC236}">
                <a16:creationId xmlns:a16="http://schemas.microsoft.com/office/drawing/2014/main" id="{8A681188-4B09-7B80-ECC1-FAA97DE3636B}"/>
              </a:ext>
            </a:extLst>
          </p:cNvPr>
          <p:cNvSpPr>
            <a:spLocks noGrp="1"/>
          </p:cNvSpPr>
          <p:nvPr>
            <p:ph type="ftr" sz="quarter" idx="11"/>
          </p:nvPr>
        </p:nvSpPr>
        <p:spPr/>
        <p:txBody>
          <a:bodyPr/>
          <a:lstStyle/>
          <a:p>
            <a:endParaRPr lang="cs-CZ" dirty="0"/>
          </a:p>
        </p:txBody>
      </p:sp>
      <p:sp>
        <p:nvSpPr>
          <p:cNvPr id="7" name="Zástupný symbol pro číslo snímku 6">
            <a:extLst>
              <a:ext uri="{FF2B5EF4-FFF2-40B4-BE49-F238E27FC236}">
                <a16:creationId xmlns:a16="http://schemas.microsoft.com/office/drawing/2014/main" id="{D74B6D84-CA4B-6E6C-737D-DF774F9813AD}"/>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3100388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C3D4E0-B098-7156-8475-0535A576880B}"/>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741A135B-DA7A-2CF8-7CA9-F80A87AE2A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dirty="0"/>
          </a:p>
        </p:txBody>
      </p:sp>
      <p:sp>
        <p:nvSpPr>
          <p:cNvPr id="4" name="Zástupný text 3">
            <a:extLst>
              <a:ext uri="{FF2B5EF4-FFF2-40B4-BE49-F238E27FC236}">
                <a16:creationId xmlns:a16="http://schemas.microsoft.com/office/drawing/2014/main" id="{F56CCC16-F6D2-72B0-E0A4-565D00627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16395E92-BB2A-E454-8079-CA84AE7184A6}"/>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6" name="Zástupný symbol pro zápatí 5">
            <a:extLst>
              <a:ext uri="{FF2B5EF4-FFF2-40B4-BE49-F238E27FC236}">
                <a16:creationId xmlns:a16="http://schemas.microsoft.com/office/drawing/2014/main" id="{EECD4CD5-FE44-3F3A-AC57-BC032E30FE08}"/>
              </a:ext>
            </a:extLst>
          </p:cNvPr>
          <p:cNvSpPr>
            <a:spLocks noGrp="1"/>
          </p:cNvSpPr>
          <p:nvPr>
            <p:ph type="ftr" sz="quarter" idx="11"/>
          </p:nvPr>
        </p:nvSpPr>
        <p:spPr/>
        <p:txBody>
          <a:bodyPr/>
          <a:lstStyle/>
          <a:p>
            <a:endParaRPr lang="cs-CZ" dirty="0"/>
          </a:p>
        </p:txBody>
      </p:sp>
      <p:sp>
        <p:nvSpPr>
          <p:cNvPr id="7" name="Zástupný symbol pro číslo snímku 6">
            <a:extLst>
              <a:ext uri="{FF2B5EF4-FFF2-40B4-BE49-F238E27FC236}">
                <a16:creationId xmlns:a16="http://schemas.microsoft.com/office/drawing/2014/main" id="{215B6C14-59B6-5BC8-81DA-75DC5E759969}"/>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2915246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B5E17C7-BDA4-981D-2C51-930B47EBE724}"/>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B3F1BCEB-6D8E-E211-F8E5-2054F30D499D}"/>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0D8F3049-1E6B-406C-E7B6-0EADCCFBEAA4}"/>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1F187520-917E-29D1-1707-A3A1910EDAAB}"/>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A75ABBC0-6C14-D525-1604-B972066C094B}"/>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2596825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145589B7-BB31-9754-2A07-ED2160722EF9}"/>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C29543E5-6878-ED5F-94C3-C70A3058F9B1}"/>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641C8607-1CC7-223B-1A30-AE4D0A0E8854}"/>
              </a:ext>
            </a:extLst>
          </p:cNvPr>
          <p:cNvSpPr>
            <a:spLocks noGrp="1"/>
          </p:cNvSpPr>
          <p:nvPr>
            <p:ph type="dt" sz="half" idx="10"/>
          </p:nvPr>
        </p:nvSpPr>
        <p:spPr/>
        <p:txBody>
          <a:body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D42425CC-CD85-16F5-BCE8-792E0B9EAC61}"/>
              </a:ext>
            </a:extLst>
          </p:cNvPr>
          <p:cNvSpPr>
            <a:spLocks noGrp="1"/>
          </p:cNvSpPr>
          <p:nvPr>
            <p:ph type="ftr" sz="quarter" idx="11"/>
          </p:nvPr>
        </p:nvSpPr>
        <p:spPr/>
        <p:txBody>
          <a:bodyPr/>
          <a:lstStyle/>
          <a:p>
            <a:endParaRPr lang="cs-CZ" dirty="0"/>
          </a:p>
        </p:txBody>
      </p:sp>
      <p:sp>
        <p:nvSpPr>
          <p:cNvPr id="6" name="Zástupný symbol pro číslo snímku 5">
            <a:extLst>
              <a:ext uri="{FF2B5EF4-FFF2-40B4-BE49-F238E27FC236}">
                <a16:creationId xmlns:a16="http://schemas.microsoft.com/office/drawing/2014/main" id="{00F68AD2-38BC-534C-E8C6-711AF664D73E}"/>
              </a:ext>
            </a:extLst>
          </p:cNvPr>
          <p:cNvSpPr>
            <a:spLocks noGrp="1"/>
          </p:cNvSpPr>
          <p:nvPr>
            <p:ph type="sldNum" sz="quarter" idx="12"/>
          </p:nvPr>
        </p:nvSpPr>
        <p:spPr/>
        <p:txBody>
          <a:bodyPr/>
          <a:lstStyle/>
          <a:p>
            <a:fld id="{CF38283F-4C80-4A77-8888-8A524EE97E5B}" type="slidenum">
              <a:rPr lang="cs-CZ" smtClean="0"/>
              <a:t>‹#›</a:t>
            </a:fld>
            <a:endParaRPr lang="cs-CZ" dirty="0"/>
          </a:p>
        </p:txBody>
      </p:sp>
    </p:spTree>
    <p:extLst>
      <p:ext uri="{BB962C8B-B14F-4D97-AF65-F5344CB8AC3E}">
        <p14:creationId xmlns:p14="http://schemas.microsoft.com/office/powerpoint/2010/main" val="2194500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path path="circle">
            <a:fillToRect l="100000" t="100000"/>
          </a:path>
          <a:tileRect/>
        </a:gradFill>
        <a:effectLst/>
      </p:bgPr>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2176279B-D22B-EEC6-E683-6BE05EB95C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FD04B164-A916-454E-F2F7-46E23B18AA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EB72E787-9E5F-2CFB-52CE-10D6AFEE3C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FDC323-2DE3-4328-AB99-885846D04B72}" type="datetimeFigureOut">
              <a:rPr lang="cs-CZ" smtClean="0"/>
              <a:t>11.09.2026</a:t>
            </a:fld>
            <a:endParaRPr lang="cs-CZ" dirty="0"/>
          </a:p>
        </p:txBody>
      </p:sp>
      <p:sp>
        <p:nvSpPr>
          <p:cNvPr id="5" name="Zástupný symbol pro zápatí 4">
            <a:extLst>
              <a:ext uri="{FF2B5EF4-FFF2-40B4-BE49-F238E27FC236}">
                <a16:creationId xmlns:a16="http://schemas.microsoft.com/office/drawing/2014/main" id="{E3C949EB-ADE8-5708-0460-4A70036D75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dirty="0"/>
          </a:p>
        </p:txBody>
      </p:sp>
      <p:sp>
        <p:nvSpPr>
          <p:cNvPr id="6" name="Zástupný symbol pro číslo snímku 5">
            <a:extLst>
              <a:ext uri="{FF2B5EF4-FFF2-40B4-BE49-F238E27FC236}">
                <a16:creationId xmlns:a16="http://schemas.microsoft.com/office/drawing/2014/main" id="{ECACF574-41B6-B651-2259-98147A7311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38283F-4C80-4A77-8888-8A524EE97E5B}" type="slidenum">
              <a:rPr lang="cs-CZ" smtClean="0"/>
              <a:t>‹#›</a:t>
            </a:fld>
            <a:endParaRPr lang="cs-CZ" dirty="0"/>
          </a:p>
        </p:txBody>
      </p:sp>
    </p:spTree>
    <p:extLst>
      <p:ext uri="{BB962C8B-B14F-4D97-AF65-F5344CB8AC3E}">
        <p14:creationId xmlns:p14="http://schemas.microsoft.com/office/powerpoint/2010/main" val="934555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rade.ec.europa.eu/access-to-markets/en/news/combined-nomenclature-and-common-customs-tariff-applicable-eu-1-january-2026" TargetMode="External"/><Relationship Id="rId2" Type="http://schemas.openxmlformats.org/officeDocument/2006/relationships/hyperlink" Target="https://eur-lex.europa.eu/legal-content/EN/TXT/?uri=OJ%3AL_20250192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CS-PNK1926-2025-cs-komprim.pdf"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wcoomdpublications.org/e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VKN2019XC0329(02)-KONSOLID-20260213.pdf"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eur-lex.europa.eu/legal-content/CS/TXT/?uri=CELEX%3A02019XC0329%2802%29-20260213"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elnisprava.gov.cz/cz/aplikace/Stranky/taric-cz.aspx" TargetMode="External"/><Relationship Id="rId2" Type="http://schemas.openxmlformats.org/officeDocument/2006/relationships/hyperlink" Target="https://ec.europa.eu/taxation_customs/dds2/taric/taric_consultation.jsp?Lang=e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1A0BC2A-D66A-2933-7333-7C814B70E1A8}"/>
              </a:ext>
            </a:extLst>
          </p:cNvPr>
          <p:cNvSpPr>
            <a:spLocks noGrp="1"/>
          </p:cNvSpPr>
          <p:nvPr>
            <p:ph type="ctrTitle"/>
          </p:nvPr>
        </p:nvSpPr>
        <p:spPr>
          <a:xfrm>
            <a:off x="1432560" y="1104075"/>
            <a:ext cx="9144000" cy="2387600"/>
          </a:xfrm>
        </p:spPr>
        <p:txBody>
          <a:bodyPr/>
          <a:lstStyle/>
          <a:p>
            <a:r>
              <a:rPr lang="cs-CZ" noProof="0" dirty="0"/>
              <a:t>Společný celní sazebník EU</a:t>
            </a:r>
            <a:endParaRPr lang="cs-CZ" b="1" noProof="0" dirty="0"/>
          </a:p>
        </p:txBody>
      </p:sp>
      <p:sp>
        <p:nvSpPr>
          <p:cNvPr id="3" name="Podnadpis 2">
            <a:extLst>
              <a:ext uri="{FF2B5EF4-FFF2-40B4-BE49-F238E27FC236}">
                <a16:creationId xmlns:a16="http://schemas.microsoft.com/office/drawing/2014/main" id="{F8764C08-D939-F310-1AAF-51C5774587B5}"/>
              </a:ext>
            </a:extLst>
          </p:cNvPr>
          <p:cNvSpPr>
            <a:spLocks noGrp="1"/>
          </p:cNvSpPr>
          <p:nvPr>
            <p:ph type="subTitle" idx="1"/>
          </p:nvPr>
        </p:nvSpPr>
        <p:spPr>
          <a:xfrm>
            <a:off x="1432560" y="3583750"/>
            <a:ext cx="9144000" cy="1655762"/>
          </a:xfrm>
        </p:spPr>
        <p:txBody>
          <a:bodyPr/>
          <a:lstStyle/>
          <a:p>
            <a:r>
              <a:rPr lang="cs-CZ" noProof="0" dirty="0"/>
              <a:t>Struktura celního sazebníku a pravidla pro sazební zařazování zboží</a:t>
            </a:r>
          </a:p>
        </p:txBody>
      </p:sp>
    </p:spTree>
    <p:extLst>
      <p:ext uri="{BB962C8B-B14F-4D97-AF65-F5344CB8AC3E}">
        <p14:creationId xmlns:p14="http://schemas.microsoft.com/office/powerpoint/2010/main" val="301616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7A58003-1DAB-0B53-25B2-A0B3FD400D13}"/>
              </a:ext>
            </a:extLst>
          </p:cNvPr>
          <p:cNvSpPr>
            <a:spLocks noGrp="1"/>
          </p:cNvSpPr>
          <p:nvPr>
            <p:ph type="title"/>
          </p:nvPr>
        </p:nvSpPr>
        <p:spPr>
          <a:xfrm>
            <a:off x="664464" y="383413"/>
            <a:ext cx="10515600" cy="540131"/>
          </a:xfrm>
        </p:spPr>
        <p:txBody>
          <a:bodyPr>
            <a:normAutofit fontScale="90000"/>
          </a:bodyPr>
          <a:lstStyle/>
          <a:p>
            <a:r>
              <a:rPr lang="cs-CZ" sz="3600" b="1" noProof="0" dirty="0">
                <a:latin typeface="+mn-lt"/>
              </a:rPr>
              <a:t>Společný celní sazebník EU</a:t>
            </a:r>
          </a:p>
        </p:txBody>
      </p:sp>
      <p:sp>
        <p:nvSpPr>
          <p:cNvPr id="3" name="Zástupný obsah 2">
            <a:extLst>
              <a:ext uri="{FF2B5EF4-FFF2-40B4-BE49-F238E27FC236}">
                <a16:creationId xmlns:a16="http://schemas.microsoft.com/office/drawing/2014/main" id="{3178BE8F-4C2C-223E-28AC-81148A837DEE}"/>
              </a:ext>
            </a:extLst>
          </p:cNvPr>
          <p:cNvSpPr>
            <a:spLocks noGrp="1"/>
          </p:cNvSpPr>
          <p:nvPr>
            <p:ph idx="1"/>
          </p:nvPr>
        </p:nvSpPr>
        <p:spPr>
          <a:xfrm>
            <a:off x="486156" y="941831"/>
            <a:ext cx="11219688" cy="5532755"/>
          </a:xfrm>
        </p:spPr>
        <p:txBody>
          <a:bodyPr>
            <a:normAutofit/>
          </a:bodyPr>
          <a:lstStyle/>
          <a:p>
            <a:pPr eaLnBrk="1" hangingPunct="1">
              <a:defRPr/>
            </a:pPr>
            <a:r>
              <a:rPr lang="cs-CZ" sz="2000" noProof="0" dirty="0"/>
              <a:t>celní sazebník je oficiální/úřední seznam zboží, které podléhá clu; je klíčovým nástrojem obchodní politiky vůči třetím zemím</a:t>
            </a:r>
            <a:endParaRPr lang="cs-CZ" sz="4400" noProof="0" dirty="0"/>
          </a:p>
          <a:p>
            <a:pPr eaLnBrk="1" hangingPunct="1">
              <a:defRPr/>
            </a:pPr>
            <a:r>
              <a:rPr lang="cs-CZ" sz="2000" b="1" u="sng" noProof="0" dirty="0"/>
              <a:t>nařízení Rady č. 2658/87 o celní a statistické nomenklatuře a o společném celním sazebníku zavedlo v Unii nomenklaturu zboží, tzv. „kombinovanou nomenklaturu“ („KN“), která splňuje požadavky celního sazebníku</a:t>
            </a:r>
            <a:endParaRPr lang="cs-CZ" sz="4400" noProof="0" dirty="0"/>
          </a:p>
          <a:p>
            <a:pPr lvl="1">
              <a:defRPr/>
            </a:pPr>
            <a:r>
              <a:rPr lang="cs-CZ" sz="2000" noProof="0" dirty="0"/>
              <a:t>Příloha I = celní sazebník (KN + slovní popis), POZOR … mění se pro každý rok</a:t>
            </a:r>
            <a:endParaRPr lang="cs-CZ" sz="4000" b="1" noProof="0" dirty="0"/>
          </a:p>
          <a:p>
            <a:pPr>
              <a:defRPr/>
            </a:pPr>
            <a:r>
              <a:rPr lang="cs-CZ" sz="2000" noProof="0" dirty="0"/>
              <a:t>Kombinovaná nomenklatura je založena na nomenklatuře harmonizovaného systému (HS), obsahuje však další unijní členění některých čísel („podpoložky KN“) a také úvodní ustanovení, doplňkové poznámky ke třídám a kapitolám a poznámky pod čarou vztahující se k podpoložkám KN.</a:t>
            </a:r>
            <a:endParaRPr lang="cs-CZ" sz="4400" noProof="0" dirty="0"/>
          </a:p>
          <a:p>
            <a:pPr>
              <a:defRPr/>
            </a:pPr>
            <a:r>
              <a:rPr lang="cs-CZ" sz="2000" noProof="0" dirty="0"/>
              <a:t>Dovážené a vyvážené zboží musí být zařazeno podle kombinované nomenklatury (KN), tj. musí být deklarováno a uvedeno pod tou položkou nomenklatury, do které má být podle pravidel zařazeno.</a:t>
            </a:r>
            <a:endParaRPr lang="cs-CZ" sz="4400" noProof="0" dirty="0">
              <a:cs typeface="Arial" panose="020B0604020202020204" pitchFamily="34" charset="0"/>
            </a:endParaRPr>
          </a:p>
          <a:p>
            <a:pPr>
              <a:defRPr/>
            </a:pPr>
            <a:r>
              <a:rPr lang="cs-CZ" sz="2000" noProof="0" dirty="0"/>
              <a:t>platné znění Celního sazebníku pro rok 2026 naleznete pod odkazem - </a:t>
            </a:r>
            <a:r>
              <a:rPr lang="cs-CZ" sz="2000" noProof="0" dirty="0">
                <a:hlinkClick r:id="rId2"/>
              </a:rPr>
              <a:t>https://eur-lex.europa.eu/legal-content/EN/TXT/?uri=OJ%3AL_202501926</a:t>
            </a:r>
            <a:endParaRPr lang="cs-CZ" sz="2000" noProof="0" dirty="0"/>
          </a:p>
          <a:p>
            <a:pPr>
              <a:spcAft>
                <a:spcPts val="675"/>
              </a:spcAft>
            </a:pPr>
            <a:r>
              <a:rPr lang="cs-CZ" sz="2000" noProof="0" dirty="0"/>
              <a:t>Přehled změn zde: </a:t>
            </a:r>
            <a:r>
              <a:rPr lang="cs-CZ" sz="2000" noProof="0" dirty="0">
                <a:hlinkClick r:id="rId3"/>
              </a:rPr>
              <a:t>https://trade.ec.europa.eu/access-to-markets/en/news/combined-nomenclature-and-common-customs-tariff-applicable-eu-1-january-2026</a:t>
            </a:r>
            <a:endParaRPr lang="cs-CZ" sz="2000" noProof="0" dirty="0"/>
          </a:p>
          <a:p>
            <a:pPr>
              <a:spcAft>
                <a:spcPts val="675"/>
              </a:spcAft>
            </a:pPr>
            <a:endParaRPr lang="cs-CZ" sz="1800" dirty="0">
              <a:cs typeface="Arial" panose="020B0604020202020204" pitchFamily="34" charset="0"/>
            </a:endParaRPr>
          </a:p>
          <a:p>
            <a:endParaRPr lang="cs-CZ" dirty="0"/>
          </a:p>
          <a:p>
            <a:endParaRPr lang="cs-CZ" dirty="0"/>
          </a:p>
        </p:txBody>
      </p:sp>
    </p:spTree>
    <p:extLst>
      <p:ext uri="{BB962C8B-B14F-4D97-AF65-F5344CB8AC3E}">
        <p14:creationId xmlns:p14="http://schemas.microsoft.com/office/powerpoint/2010/main" val="308292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5FE7-1B74-DDDD-0301-0EEFFF6D42B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7FFD7477-4C66-BC66-6028-E4CF7225D71F}"/>
              </a:ext>
            </a:extLst>
          </p:cNvPr>
          <p:cNvSpPr>
            <a:spLocks noGrp="1"/>
          </p:cNvSpPr>
          <p:nvPr>
            <p:ph type="title"/>
          </p:nvPr>
        </p:nvSpPr>
        <p:spPr>
          <a:xfrm>
            <a:off x="605790" y="365125"/>
            <a:ext cx="10748010" cy="697865"/>
          </a:xfrm>
        </p:spPr>
        <p:txBody>
          <a:bodyPr>
            <a:normAutofit/>
          </a:bodyPr>
          <a:lstStyle/>
          <a:p>
            <a:r>
              <a:rPr lang="cs-CZ" sz="3600" b="1" noProof="0" dirty="0">
                <a:latin typeface="+mn-lt"/>
              </a:rPr>
              <a:t>Struktura společného celního sazebníku</a:t>
            </a:r>
          </a:p>
        </p:txBody>
      </p:sp>
      <p:sp>
        <p:nvSpPr>
          <p:cNvPr id="3" name="Zástupný obsah 2">
            <a:extLst>
              <a:ext uri="{FF2B5EF4-FFF2-40B4-BE49-F238E27FC236}">
                <a16:creationId xmlns:a16="http://schemas.microsoft.com/office/drawing/2014/main" id="{4581C722-3DA8-A063-1E49-30A26D1BD7A8}"/>
              </a:ext>
            </a:extLst>
          </p:cNvPr>
          <p:cNvSpPr>
            <a:spLocks noGrp="1"/>
          </p:cNvSpPr>
          <p:nvPr>
            <p:ph idx="1"/>
          </p:nvPr>
        </p:nvSpPr>
        <p:spPr>
          <a:xfrm>
            <a:off x="605790" y="1154430"/>
            <a:ext cx="10515600" cy="5264658"/>
          </a:xfrm>
        </p:spPr>
        <p:txBody>
          <a:bodyPr>
            <a:normAutofit/>
          </a:bodyPr>
          <a:lstStyle/>
          <a:p>
            <a:pPr eaLnBrk="1" hangingPunct="1"/>
            <a:r>
              <a:rPr lang="cs-CZ" sz="2400" b="1" noProof="0" dirty="0"/>
              <a:t>Obecná část – úvodní ustanovení, poznámky a přílohy</a:t>
            </a:r>
          </a:p>
          <a:p>
            <a:pPr lvl="1"/>
            <a:r>
              <a:rPr lang="cs-CZ" sz="2000" b="1" noProof="0" dirty="0"/>
              <a:t>Všeobecná pravidla pro výklad KN</a:t>
            </a:r>
            <a:r>
              <a:rPr lang="cs-CZ" sz="2000" noProof="0" dirty="0"/>
              <a:t> (VPV KN), obecná pravidla pro clo, obecná pravidla pro nomenklaturu a celní sazby</a:t>
            </a:r>
          </a:p>
          <a:p>
            <a:pPr lvl="1"/>
            <a:r>
              <a:rPr lang="cs-CZ" sz="2000" noProof="0" dirty="0"/>
              <a:t>Zvláštní ustanovení pro určité druhy zboží (lodě, čluny, civilní letadla, farmaceutické výrobky), pravidla pro použití paušální celní sazby, pro obaly a pro zvýhodněné sazební zacházení podle povahy zboží</a:t>
            </a:r>
          </a:p>
          <a:p>
            <a:pPr lvl="1"/>
            <a:r>
              <a:rPr lang="cs-CZ" sz="2000" noProof="0" dirty="0"/>
              <a:t>Seznamy značek, zkratek, symbolů a doplňkových měrných jednotek</a:t>
            </a:r>
          </a:p>
          <a:p>
            <a:pPr marL="457200" lvl="1" indent="0">
              <a:buNone/>
            </a:pPr>
            <a:endParaRPr lang="cs-CZ" sz="2000" i="1" noProof="0" dirty="0"/>
          </a:p>
          <a:p>
            <a:pPr eaLnBrk="1" hangingPunct="1"/>
            <a:r>
              <a:rPr lang="cs-CZ" sz="2400" b="1" noProof="0" dirty="0"/>
              <a:t>Nomenklaturní část – slovní popis a číselné označení zboží</a:t>
            </a:r>
          </a:p>
          <a:p>
            <a:pPr marL="0" indent="0" eaLnBrk="1" hangingPunct="1">
              <a:buNone/>
            </a:pPr>
            <a:endParaRPr lang="cs-CZ" sz="2400" b="1" noProof="0" dirty="0"/>
          </a:p>
          <a:p>
            <a:pPr eaLnBrk="1" hangingPunct="1"/>
            <a:r>
              <a:rPr lang="cs-CZ" sz="2400" b="1" noProof="0" dirty="0"/>
              <a:t>Sazební část – celní sazby = smluvní a autonomní celní sazby</a:t>
            </a:r>
            <a:endParaRPr lang="cs-CZ" sz="2400" noProof="0" dirty="0"/>
          </a:p>
        </p:txBody>
      </p:sp>
    </p:spTree>
    <p:extLst>
      <p:ext uri="{BB962C8B-B14F-4D97-AF65-F5344CB8AC3E}">
        <p14:creationId xmlns:p14="http://schemas.microsoft.com/office/powerpoint/2010/main" val="59282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6139F-124A-D9C0-66B5-C5CBA32CE5C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A729A30-B4E2-E34C-C87D-E651B42ACF86}"/>
              </a:ext>
            </a:extLst>
          </p:cNvPr>
          <p:cNvSpPr>
            <a:spLocks noGrp="1"/>
          </p:cNvSpPr>
          <p:nvPr>
            <p:ph type="title"/>
          </p:nvPr>
        </p:nvSpPr>
        <p:spPr>
          <a:xfrm>
            <a:off x="838200" y="365125"/>
            <a:ext cx="10515600" cy="766445"/>
          </a:xfrm>
        </p:spPr>
        <p:txBody>
          <a:bodyPr>
            <a:normAutofit/>
          </a:bodyPr>
          <a:lstStyle/>
          <a:p>
            <a:r>
              <a:rPr lang="cs-CZ" sz="2000" b="1" noProof="0" dirty="0">
                <a:hlinkClick r:id="rId2" action="ppaction://hlinkfile"/>
              </a:rPr>
              <a:t>Společný celní sazebník</a:t>
            </a:r>
            <a:br>
              <a:rPr lang="cs-CZ" sz="2000" noProof="0" dirty="0"/>
            </a:br>
            <a:r>
              <a:rPr lang="cs-CZ" sz="1800" b="1" i="1" noProof="0" dirty="0"/>
              <a:t>Obecná část                                                                               Nomenklaturní + tarifní část</a:t>
            </a:r>
            <a:endParaRPr lang="cs-CZ" sz="2000" b="1" i="1" noProof="0" dirty="0"/>
          </a:p>
        </p:txBody>
      </p:sp>
      <p:pic>
        <p:nvPicPr>
          <p:cNvPr id="5" name="Zástupný obsah 4">
            <a:extLst>
              <a:ext uri="{FF2B5EF4-FFF2-40B4-BE49-F238E27FC236}">
                <a16:creationId xmlns:a16="http://schemas.microsoft.com/office/drawing/2014/main" id="{7832DDCB-AF7C-F50F-399C-329DEE559085}"/>
              </a:ext>
            </a:extLst>
          </p:cNvPr>
          <p:cNvPicPr>
            <a:picLocks noGrp="1" noChangeAspect="1"/>
          </p:cNvPicPr>
          <p:nvPr>
            <p:ph idx="1"/>
          </p:nvPr>
        </p:nvPicPr>
        <p:blipFill>
          <a:blip r:embed="rId3"/>
          <a:stretch>
            <a:fillRect/>
          </a:stretch>
        </p:blipFill>
        <p:spPr>
          <a:xfrm>
            <a:off x="838200" y="1219834"/>
            <a:ext cx="4991100" cy="5410407"/>
          </a:xfrm>
        </p:spPr>
      </p:pic>
      <p:pic>
        <p:nvPicPr>
          <p:cNvPr id="9" name="Obrázek 8">
            <a:extLst>
              <a:ext uri="{FF2B5EF4-FFF2-40B4-BE49-F238E27FC236}">
                <a16:creationId xmlns:a16="http://schemas.microsoft.com/office/drawing/2014/main" id="{8A1C93B8-5B9E-6505-9905-533BEAD117BD}"/>
              </a:ext>
            </a:extLst>
          </p:cNvPr>
          <p:cNvPicPr>
            <a:picLocks noChangeAspect="1"/>
          </p:cNvPicPr>
          <p:nvPr/>
        </p:nvPicPr>
        <p:blipFill>
          <a:blip r:embed="rId4"/>
          <a:stretch>
            <a:fillRect/>
          </a:stretch>
        </p:blipFill>
        <p:spPr>
          <a:xfrm>
            <a:off x="6096000" y="1219834"/>
            <a:ext cx="5212620" cy="5410406"/>
          </a:xfrm>
          <a:prstGeom prst="rect">
            <a:avLst/>
          </a:prstGeom>
        </p:spPr>
      </p:pic>
    </p:spTree>
    <p:extLst>
      <p:ext uri="{BB962C8B-B14F-4D97-AF65-F5344CB8AC3E}">
        <p14:creationId xmlns:p14="http://schemas.microsoft.com/office/powerpoint/2010/main" val="1270974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ABA39-23C7-1E4C-021E-8FA6C31EDE2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519B22E-DC94-4E2A-91FE-FBF5A737D362}"/>
              </a:ext>
            </a:extLst>
          </p:cNvPr>
          <p:cNvSpPr>
            <a:spLocks noGrp="1"/>
          </p:cNvSpPr>
          <p:nvPr>
            <p:ph type="title"/>
          </p:nvPr>
        </p:nvSpPr>
        <p:spPr>
          <a:xfrm>
            <a:off x="560070" y="403987"/>
            <a:ext cx="10793730" cy="835025"/>
          </a:xfrm>
        </p:spPr>
        <p:txBody>
          <a:bodyPr>
            <a:noAutofit/>
          </a:bodyPr>
          <a:lstStyle/>
          <a:p>
            <a:r>
              <a:rPr lang="cs-CZ" sz="2900" b="1" noProof="0" dirty="0"/>
              <a:t>Struktura celního sazebníku</a:t>
            </a:r>
            <a:br>
              <a:rPr lang="cs-CZ" sz="2900" noProof="0" dirty="0"/>
            </a:br>
            <a:r>
              <a:rPr lang="cs-CZ" sz="2500" b="1" noProof="0" dirty="0"/>
              <a:t>Nomenklaturní část</a:t>
            </a:r>
          </a:p>
        </p:txBody>
      </p:sp>
      <p:sp>
        <p:nvSpPr>
          <p:cNvPr id="3" name="Zástupný obsah 2">
            <a:extLst>
              <a:ext uri="{FF2B5EF4-FFF2-40B4-BE49-F238E27FC236}">
                <a16:creationId xmlns:a16="http://schemas.microsoft.com/office/drawing/2014/main" id="{BDC59F95-B55C-98B1-320B-FC8EE320F610}"/>
              </a:ext>
            </a:extLst>
          </p:cNvPr>
          <p:cNvSpPr>
            <a:spLocks noGrp="1"/>
          </p:cNvSpPr>
          <p:nvPr>
            <p:ph idx="1"/>
          </p:nvPr>
        </p:nvSpPr>
        <p:spPr>
          <a:xfrm>
            <a:off x="560070" y="1357884"/>
            <a:ext cx="11018520" cy="4869180"/>
          </a:xfrm>
        </p:spPr>
        <p:txBody>
          <a:bodyPr>
            <a:normAutofit/>
          </a:bodyPr>
          <a:lstStyle/>
          <a:p>
            <a:r>
              <a:rPr lang="cs-CZ" sz="1800" b="1" noProof="0" dirty="0"/>
              <a:t>dělí se do 21 tříd</a:t>
            </a:r>
            <a:r>
              <a:rPr lang="cs-CZ" sz="1800" noProof="0" dirty="0"/>
              <a:t> (např. TŘÍDA VII „PLASTY A VÝROBKY Z NICH; KAUČUK A PRYŽ A VÝROBKY Z NICH“, TŘÍDA XVI „STROJE A MECHANICKÁ ZAŘÍZENÍ; ELEKTRICKÁ ZAŘÍZENÍ; JEJICH ČÁSTI A SOUČÁSTI; PŘÍSTROJE PRO ZÁZNAM A REPRODUKCI ZVUKU, PŘÍSTROJE PRO ZÁZNAM A REPRODUKCI TELEVIZNÍHO OBRAZU A ZVUKU A ČÁSTI, SOUČÁSTI A PŘÍSLUŠENSTVÍ TĚCHTO PŘÍSTROJŮ“), </a:t>
            </a:r>
            <a:r>
              <a:rPr lang="cs-CZ" sz="1800" b="1" noProof="0" dirty="0"/>
              <a:t>každá třída do kapitol, kterých je 99 </a:t>
            </a:r>
            <a:r>
              <a:rPr lang="cs-CZ" sz="1800" noProof="0" dirty="0"/>
              <a:t>(např. KAPITOLA 39 „PLASTY A VÝROBKY Z NICH“, KAPITOLA 84 „JADERNÉ REAKTORY, KOTLE, STROJE A MECHANICKÁ ZAŘÍZENÍ; JEJICH ČÁSTI A SOUČÁSTI“), </a:t>
            </a:r>
            <a:r>
              <a:rPr lang="cs-CZ" sz="1800" b="1" noProof="0" dirty="0"/>
              <a:t>a každá kapitola do čísel, položek a podpoložek kombinované nomenklatury</a:t>
            </a:r>
          </a:p>
          <a:p>
            <a:r>
              <a:rPr lang="cs-CZ" sz="1800" b="1" noProof="0" dirty="0"/>
              <a:t>nomenklaturní část – zařazování zboží</a:t>
            </a:r>
          </a:p>
          <a:p>
            <a:pPr marL="457200" lvl="1" indent="0">
              <a:buNone/>
            </a:pPr>
            <a:r>
              <a:rPr lang="cs-CZ" sz="1800" b="1" noProof="0" dirty="0"/>
              <a:t>1. podle stupně zpracování</a:t>
            </a:r>
          </a:p>
          <a:p>
            <a:pPr lvl="2"/>
            <a:r>
              <a:rPr lang="cs-CZ" sz="1800" noProof="0" dirty="0"/>
              <a:t>od přírodních produktů a surovin přes meziprodukty až po konečný výrobek</a:t>
            </a:r>
          </a:p>
          <a:p>
            <a:pPr lvl="2"/>
            <a:r>
              <a:rPr lang="cs-CZ" sz="1800" noProof="0" dirty="0"/>
              <a:t>podle materiálové podstaty (složení) zboží</a:t>
            </a:r>
          </a:p>
          <a:p>
            <a:pPr lvl="2"/>
            <a:r>
              <a:rPr lang="cs-CZ" sz="1800" noProof="0" dirty="0"/>
              <a:t>platí od třídy I do třídy XV</a:t>
            </a:r>
          </a:p>
          <a:p>
            <a:pPr marL="457200" lvl="1" indent="0">
              <a:buNone/>
            </a:pPr>
            <a:r>
              <a:rPr lang="cs-CZ" sz="1800" b="1" noProof="0" dirty="0"/>
              <a:t>2. podle funkce a účelu použití</a:t>
            </a:r>
          </a:p>
          <a:p>
            <a:pPr lvl="2"/>
            <a:r>
              <a:rPr lang="cs-CZ" sz="1800" noProof="0" dirty="0"/>
              <a:t>zejména od třídy XVI do třídy XXI</a:t>
            </a:r>
          </a:p>
        </p:txBody>
      </p:sp>
    </p:spTree>
    <p:extLst>
      <p:ext uri="{BB962C8B-B14F-4D97-AF65-F5344CB8AC3E}">
        <p14:creationId xmlns:p14="http://schemas.microsoft.com/office/powerpoint/2010/main" val="132622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34B92-5BAE-0025-7A6F-DC70F1D22DCC}"/>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7FC1431-6CCB-B751-914D-7154AD5ADC32}"/>
              </a:ext>
            </a:extLst>
          </p:cNvPr>
          <p:cNvSpPr>
            <a:spLocks noGrp="1"/>
          </p:cNvSpPr>
          <p:nvPr>
            <p:ph type="title"/>
          </p:nvPr>
        </p:nvSpPr>
        <p:spPr>
          <a:xfrm>
            <a:off x="554736" y="365125"/>
            <a:ext cx="10515600" cy="860171"/>
          </a:xfrm>
        </p:spPr>
        <p:txBody>
          <a:bodyPr>
            <a:normAutofit/>
          </a:bodyPr>
          <a:lstStyle/>
          <a:p>
            <a:r>
              <a:rPr lang="cs-CZ" sz="3200" b="1" noProof="0" dirty="0">
                <a:latin typeface="+mn-lt"/>
              </a:rPr>
              <a:t>Harmonizovaný systém (HS)</a:t>
            </a:r>
            <a:endParaRPr lang="cs-CZ" sz="3200" noProof="0" dirty="0">
              <a:latin typeface="+mn-lt"/>
            </a:endParaRPr>
          </a:p>
        </p:txBody>
      </p:sp>
      <p:sp>
        <p:nvSpPr>
          <p:cNvPr id="3" name="Zástupný obsah 2">
            <a:extLst>
              <a:ext uri="{FF2B5EF4-FFF2-40B4-BE49-F238E27FC236}">
                <a16:creationId xmlns:a16="http://schemas.microsoft.com/office/drawing/2014/main" id="{26CF5847-4E2D-0146-414C-E2BAAEF2236A}"/>
              </a:ext>
            </a:extLst>
          </p:cNvPr>
          <p:cNvSpPr>
            <a:spLocks noGrp="1"/>
          </p:cNvSpPr>
          <p:nvPr>
            <p:ph idx="1"/>
          </p:nvPr>
        </p:nvSpPr>
        <p:spPr>
          <a:xfrm>
            <a:off x="554736" y="1225296"/>
            <a:ext cx="10515600" cy="4935474"/>
          </a:xfrm>
        </p:spPr>
        <p:txBody>
          <a:bodyPr>
            <a:normAutofit fontScale="70000" lnSpcReduction="20000"/>
          </a:bodyPr>
          <a:lstStyle/>
          <a:p>
            <a:pPr>
              <a:spcAft>
                <a:spcPts val="675"/>
              </a:spcAft>
            </a:pPr>
            <a:r>
              <a:rPr lang="cs-CZ" sz="3400" noProof="0" dirty="0"/>
              <a:t>HS je systém popisu a číselného označování zboží = nomenklatura obsahující čísla a položky a jejich číselné znaky, poznámky ke třídám, kapitolám a položkám, jakož i všeobecná pravidla pro výklad HS</a:t>
            </a:r>
          </a:p>
          <a:p>
            <a:pPr>
              <a:spcAft>
                <a:spcPts val="675"/>
              </a:spcAft>
            </a:pPr>
            <a:r>
              <a:rPr lang="cs-CZ" sz="3400" noProof="0" dirty="0"/>
              <a:t>HS spravuje WCO (Světová celní organizace – Výbor pro HS) a tento systematický přehled komodit používá většina obchodujících zemí.</a:t>
            </a:r>
            <a:endParaRPr lang="cs-CZ" sz="3400" noProof="0" dirty="0">
              <a:cs typeface="Arial" panose="020B0604020202020204" pitchFamily="34" charset="0"/>
            </a:endParaRPr>
          </a:p>
          <a:p>
            <a:pPr>
              <a:spcAft>
                <a:spcPts val="675"/>
              </a:spcAft>
            </a:pPr>
            <a:r>
              <a:rPr lang="cs-CZ" sz="3400" noProof="0" dirty="0"/>
              <a:t>Vysvětlivky k HS – výkladové texty poskytující technické popisy zboží a praktické pokyny pro klasifikaci (sazební zařazení) a identifikaci výrobků; představují oficiální výklad nomenklatury HS na mezinárodní úrovni a jsou rovněž platným prostředkem pro sazební zařazování v kombinované nomenklatuře</a:t>
            </a:r>
            <a:endParaRPr lang="cs-CZ" sz="3400" b="1" noProof="0" dirty="0">
              <a:cs typeface="Arial" panose="020B0604020202020204" pitchFamily="34" charset="0"/>
            </a:endParaRPr>
          </a:p>
          <a:p>
            <a:pPr>
              <a:spcAft>
                <a:spcPts val="675"/>
              </a:spcAft>
            </a:pPr>
            <a:r>
              <a:rPr lang="cs-CZ" sz="3400" noProof="0" dirty="0"/>
              <a:t>Stanoviska WCO k sazebnímu zařazování zboží – rozhodnutí o sazebním zařazování přijatá Výborem pro HS za účelem usnadnění výkladu nomenklatury HS a vysvětlivek k HS; mají stejné postavení jako vysvětlivky, ale vztahují se ke konkrétním výrobkům.</a:t>
            </a:r>
            <a:endParaRPr lang="cs-CZ" sz="3400" dirty="0">
              <a:cs typeface="Arial" panose="020B0604020202020204" pitchFamily="34" charset="0"/>
            </a:endParaRPr>
          </a:p>
          <a:p>
            <a:pPr>
              <a:spcAft>
                <a:spcPts val="675"/>
              </a:spcAft>
            </a:pPr>
            <a:r>
              <a:rPr sz="3400" dirty="0">
                <a:hlinkClick r:id="rId2"/>
              </a:rPr>
              <a:t>https://www.wcoomdpublications.org/en</a:t>
            </a:r>
            <a:endParaRPr lang="cs-CZ" sz="3400" dirty="0">
              <a:cs typeface="Arial" panose="020B0604020202020204" pitchFamily="34" charset="0"/>
            </a:endParaRPr>
          </a:p>
        </p:txBody>
      </p:sp>
    </p:spTree>
    <p:extLst>
      <p:ext uri="{BB962C8B-B14F-4D97-AF65-F5344CB8AC3E}">
        <p14:creationId xmlns:p14="http://schemas.microsoft.com/office/powerpoint/2010/main" val="188448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946C-62A3-89C4-8C2F-FB071C2AC25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0E4DF10-B522-BB12-1861-4B809B83A623}"/>
              </a:ext>
            </a:extLst>
          </p:cNvPr>
          <p:cNvSpPr>
            <a:spLocks noGrp="1"/>
          </p:cNvSpPr>
          <p:nvPr>
            <p:ph type="title"/>
          </p:nvPr>
        </p:nvSpPr>
        <p:spPr>
          <a:xfrm>
            <a:off x="408432" y="291973"/>
            <a:ext cx="10515600" cy="677291"/>
          </a:xfrm>
        </p:spPr>
        <p:txBody>
          <a:bodyPr>
            <a:normAutofit/>
          </a:bodyPr>
          <a:lstStyle/>
          <a:p>
            <a:r>
              <a:rPr lang="cs-CZ" sz="3600" b="1" noProof="0" dirty="0">
                <a:latin typeface="+mn-lt"/>
              </a:rPr>
              <a:t>Kombinovaná nomenklatura</a:t>
            </a:r>
          </a:p>
        </p:txBody>
      </p:sp>
      <p:pic>
        <p:nvPicPr>
          <p:cNvPr id="4" name="Zástupný obsah 3">
            <a:extLst>
              <a:ext uri="{FF2B5EF4-FFF2-40B4-BE49-F238E27FC236}">
                <a16:creationId xmlns:a16="http://schemas.microsoft.com/office/drawing/2014/main" id="{98D1BD61-FCA3-6CBB-A8B6-F3F1CFE44870}"/>
              </a:ext>
            </a:extLst>
          </p:cNvPr>
          <p:cNvPicPr>
            <a:picLocks noGrp="1" noChangeAspect="1"/>
          </p:cNvPicPr>
          <p:nvPr>
            <p:ph idx="1"/>
          </p:nvPr>
        </p:nvPicPr>
        <p:blipFill>
          <a:blip r:embed="rId2"/>
          <a:stretch>
            <a:fillRect/>
          </a:stretch>
        </p:blipFill>
        <p:spPr>
          <a:xfrm>
            <a:off x="6967051" y="4054329"/>
            <a:ext cx="4816517" cy="2460687"/>
          </a:xfrm>
          <a:prstGeom prst="rect">
            <a:avLst/>
          </a:prstGeom>
        </p:spPr>
      </p:pic>
      <p:sp>
        <p:nvSpPr>
          <p:cNvPr id="6" name="TextovéPole 5">
            <a:extLst>
              <a:ext uri="{FF2B5EF4-FFF2-40B4-BE49-F238E27FC236}">
                <a16:creationId xmlns:a16="http://schemas.microsoft.com/office/drawing/2014/main" id="{009BF9CC-0044-CA22-999C-4020D926B737}"/>
              </a:ext>
            </a:extLst>
          </p:cNvPr>
          <p:cNvSpPr txBox="1"/>
          <p:nvPr/>
        </p:nvSpPr>
        <p:spPr>
          <a:xfrm>
            <a:off x="256031" y="969264"/>
            <a:ext cx="11527537" cy="5355312"/>
          </a:xfrm>
          <a:prstGeom prst="rect">
            <a:avLst/>
          </a:prstGeom>
          <a:noFill/>
        </p:spPr>
        <p:txBody>
          <a:bodyPr wrap="square">
            <a:spAutoFit/>
          </a:bodyPr>
          <a:lstStyle/>
          <a:p>
            <a:pPr marL="285750" indent="-285750">
              <a:buFont typeface="Arial" panose="020B0604020202020204" pitchFamily="34" charset="0"/>
              <a:buChar char="•"/>
            </a:pPr>
            <a:r>
              <a:rPr lang="cs-CZ" b="1" noProof="0" dirty="0"/>
              <a:t>každá podpoložka KN má osmimístný číselný kód</a:t>
            </a:r>
            <a:r>
              <a:rPr lang="cs-CZ" noProof="0" dirty="0"/>
              <a:t>:</a:t>
            </a:r>
            <a:endParaRPr lang="cs-CZ" sz="1800" noProof="0" dirty="0"/>
          </a:p>
          <a:p>
            <a:pPr marL="800100" lvl="1" indent="-342900">
              <a:buFont typeface="+mj-lt"/>
              <a:buAutoNum type="alphaLcParenR"/>
            </a:pPr>
            <a:r>
              <a:rPr lang="cs-CZ" noProof="0" dirty="0"/>
              <a:t>prvních šest číslic tvoří číselné kódy odpovídající číslům a položkám nomenklatury HS;</a:t>
            </a:r>
          </a:p>
          <a:p>
            <a:pPr marL="800100" lvl="1" indent="-342900">
              <a:buFont typeface="+mj-lt"/>
              <a:buAutoNum type="alphaLcParenR"/>
            </a:pPr>
            <a:r>
              <a:rPr lang="cs-CZ" noProof="0" dirty="0"/>
              <a:t>sedmá a osmá číslice určují podpoložku KN. Pokud se číslo nebo položka harmonizovaného systému pro účely Unie dále nečlení, uvádí se na sedmém a osmém místě číslice „00“.</a:t>
            </a:r>
            <a:endParaRPr lang="cs-CZ" sz="1800" noProof="0" dirty="0"/>
          </a:p>
          <a:p>
            <a:pPr marL="342900" indent="-342900">
              <a:buFont typeface="Arial" panose="020B0604020202020204" pitchFamily="34" charset="0"/>
              <a:buChar char="•"/>
            </a:pPr>
            <a:r>
              <a:rPr lang="cs-CZ" b="1" noProof="0" dirty="0"/>
              <a:t>podpoložky TARIC</a:t>
            </a:r>
            <a:r>
              <a:rPr lang="cs-CZ" noProof="0" dirty="0"/>
              <a:t> jsou určeny devátou a desátou číslicí a spolu s osmimístným číselným kódem podpoložky KN tvoří desetimístné číselné kódy TARIC.</a:t>
            </a:r>
          </a:p>
          <a:p>
            <a:pPr marL="342900" indent="-342900">
              <a:buFont typeface="Arial" panose="020B0604020202020204" pitchFamily="34" charset="0"/>
              <a:buChar char="•"/>
            </a:pPr>
            <a:r>
              <a:rPr lang="cs-CZ" noProof="0" dirty="0"/>
              <a:t>dále se používají </a:t>
            </a:r>
            <a:r>
              <a:rPr lang="cs-CZ" b="1" noProof="0" dirty="0"/>
              <a:t>doplňkové čtyřmístné kódy TARIC </a:t>
            </a:r>
            <a:r>
              <a:rPr lang="cs-CZ" noProof="0" dirty="0"/>
              <a:t>pro provádění některých opatření Unie, která nejsou vyjádřena desetimístným kódem TARIC.</a:t>
            </a:r>
            <a:endParaRPr lang="cs-CZ" sz="1800" noProof="0" dirty="0"/>
          </a:p>
          <a:p>
            <a:pPr marL="342900" indent="-342900">
              <a:buFont typeface="Arial" panose="020B0604020202020204" pitchFamily="34" charset="0"/>
              <a:buChar char="•"/>
            </a:pPr>
            <a:endParaRPr lang="cs-CZ" b="1" noProof="0" dirty="0"/>
          </a:p>
          <a:p>
            <a:r>
              <a:rPr lang="cs-CZ" b="1" noProof="0" dirty="0">
                <a:hlinkClick r:id="rId3" action="ppaction://hlinkfile"/>
              </a:rPr>
              <a:t>Vysvětlivky ke kombinované nomenklatuře (VKN)</a:t>
            </a:r>
            <a:endParaRPr lang="cs-CZ" b="1" noProof="0" dirty="0"/>
          </a:p>
          <a:p>
            <a:pPr marL="360000" lvl="1" indent="-180000">
              <a:buFont typeface="Arial" panose="020B0604020202020204" pitchFamily="34" charset="0"/>
              <a:buChar char="•"/>
            </a:pPr>
            <a:r>
              <a:rPr lang="cs-CZ" noProof="0" dirty="0"/>
              <a:t>doplňují texty vysvětlivek k HS a objasňují zařazování zboží </a:t>
            </a:r>
          </a:p>
          <a:p>
            <a:pPr marL="180000" lvl="1"/>
            <a:r>
              <a:rPr lang="cs-CZ" noProof="0" dirty="0"/>
              <a:t>   do položek a podpoložek KN</a:t>
            </a:r>
          </a:p>
          <a:p>
            <a:pPr marL="360000" lvl="1" indent="-180000">
              <a:buFont typeface="Arial" panose="020B0604020202020204" pitchFamily="34" charset="0"/>
              <a:buChar char="•"/>
            </a:pPr>
            <a:r>
              <a:rPr lang="cs-CZ" noProof="0" dirty="0"/>
              <a:t>text je projednáván ve Výboru pro celní kodex, zveřejňuje jej EK</a:t>
            </a:r>
          </a:p>
          <a:p>
            <a:pPr marL="360000" lvl="1" indent="-180000">
              <a:buFont typeface="Arial" panose="020B0604020202020204" pitchFamily="34" charset="0"/>
              <a:buChar char="•"/>
            </a:pPr>
            <a:r>
              <a:rPr lang="cs-CZ" noProof="0" dirty="0"/>
              <a:t>aktuální znění:</a:t>
            </a:r>
          </a:p>
          <a:p>
            <a:pPr marL="180000" lvl="1"/>
            <a:r>
              <a:rPr lang="cs-CZ" noProof="0" dirty="0">
                <a:hlinkClick r:id="rId4"/>
              </a:rPr>
              <a:t>https://eur-lex.europa.eu/legal-content/</a:t>
            </a:r>
          </a:p>
          <a:p>
            <a:pPr marL="180000" lvl="1"/>
            <a:r>
              <a:rPr lang="cs-CZ" noProof="0" dirty="0">
                <a:hlinkClick r:id="rId4"/>
              </a:rPr>
              <a:t>CS/TXT/?</a:t>
            </a:r>
            <a:r>
              <a:rPr lang="cs-CZ" noProof="0" dirty="0" err="1">
                <a:hlinkClick r:id="rId4"/>
              </a:rPr>
              <a:t>uri</a:t>
            </a:r>
            <a:r>
              <a:rPr lang="cs-CZ" noProof="0" dirty="0">
                <a:hlinkClick r:id="rId4"/>
              </a:rPr>
              <a:t>=CELEX%3A02019XC0329%2802%29-20260213</a:t>
            </a:r>
            <a:endParaRPr lang="cs-CZ" noProof="0" dirty="0"/>
          </a:p>
          <a:p>
            <a:pPr lvl="1"/>
            <a:endParaRPr lang="cs-CZ" dirty="0"/>
          </a:p>
          <a:p>
            <a:pPr marL="800100" lvl="1" indent="-342900">
              <a:buFont typeface="Arial" panose="020B0604020202020204" pitchFamily="34" charset="0"/>
              <a:buChar char="•"/>
            </a:pPr>
            <a:endParaRPr lang="cs-CZ" dirty="0"/>
          </a:p>
          <a:p>
            <a:pPr lvl="1"/>
            <a:endParaRPr lang="cs-CZ" dirty="0"/>
          </a:p>
        </p:txBody>
      </p:sp>
      <p:sp>
        <p:nvSpPr>
          <p:cNvPr id="7" name="Obdélník 4">
            <a:extLst>
              <a:ext uri="{FF2B5EF4-FFF2-40B4-BE49-F238E27FC236}">
                <a16:creationId xmlns:a16="http://schemas.microsoft.com/office/drawing/2014/main" id="{756C8D6E-349C-51F2-6C94-5D3414F6A2F7}"/>
              </a:ext>
            </a:extLst>
          </p:cNvPr>
          <p:cNvSpPr>
            <a:spLocks noChangeArrowheads="1"/>
          </p:cNvSpPr>
          <p:nvPr/>
        </p:nvSpPr>
        <p:spPr bwMode="auto">
          <a:xfrm>
            <a:off x="8966760" y="4518140"/>
            <a:ext cx="143495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spcAft>
                <a:spcPts val="600"/>
              </a:spcAft>
              <a:buFont typeface="Wingdings" panose="05000000000000000000" pitchFamily="2" charset="2"/>
              <a:buChar char="§"/>
              <a:defRPr sz="2000">
                <a:solidFill>
                  <a:schemeClr val="tx2"/>
                </a:solidFill>
                <a:latin typeface="Calibri" panose="020F0502020204030204" pitchFamily="34" charset="0"/>
              </a:defRPr>
            </a:lvl1pPr>
            <a:lvl2pPr marL="742950" indent="-285750">
              <a:spcBef>
                <a:spcPct val="20000"/>
              </a:spcBef>
              <a:spcAft>
                <a:spcPts val="600"/>
              </a:spcAft>
              <a:buClr>
                <a:srgbClr val="7F7F7F"/>
              </a:buClr>
              <a:buFont typeface="Wingdings" panose="05000000000000000000" pitchFamily="2" charset="2"/>
              <a:buChar char="§"/>
              <a:defRPr sz="1600">
                <a:solidFill>
                  <a:schemeClr val="tx2"/>
                </a:solidFill>
                <a:latin typeface="Calibri" panose="020F0502020204030204" pitchFamily="34" charset="0"/>
              </a:defRPr>
            </a:lvl2pPr>
            <a:lvl3pPr marL="1143000" indent="-228600">
              <a:spcBef>
                <a:spcPct val="20000"/>
              </a:spcBef>
              <a:spcAft>
                <a:spcPts val="600"/>
              </a:spcAft>
              <a:buFont typeface="Wingdings" panose="05000000000000000000" pitchFamily="2" charset="2"/>
              <a:defRPr sz="1400">
                <a:solidFill>
                  <a:schemeClr val="tx2"/>
                </a:solidFill>
                <a:latin typeface="Calibri" panose="020F0502020204030204" pitchFamily="34" charset="0"/>
              </a:defRPr>
            </a:lvl3pPr>
            <a:lvl4pPr marL="1600200" indent="-22860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4pPr>
            <a:lvl5pPr marL="2057400" indent="-22860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5pPr>
            <a:lvl6pPr marL="2514600" indent="-228600" eaLnBrk="0" fontAlgn="base" hangingPunct="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6pPr>
            <a:lvl7pPr marL="2971800" indent="-228600" eaLnBrk="0" fontAlgn="base" hangingPunct="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7pPr>
            <a:lvl8pPr marL="3429000" indent="-228600" eaLnBrk="0" fontAlgn="base" hangingPunct="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8pPr>
            <a:lvl9pPr marL="3886200" indent="-228600" eaLnBrk="0" fontAlgn="base" hangingPunct="0">
              <a:spcBef>
                <a:spcPct val="20000"/>
              </a:spcBef>
              <a:spcAft>
                <a:spcPts val="600"/>
              </a:spcAft>
              <a:buClr>
                <a:srgbClr val="7F7F7F"/>
              </a:buClr>
              <a:buFont typeface="Wingdings" panose="05000000000000000000" pitchFamily="2" charset="2"/>
              <a:defRPr sz="1400">
                <a:solidFill>
                  <a:schemeClr val="tx2"/>
                </a:solidFill>
                <a:latin typeface="Calibri" panose="020F0502020204030204" pitchFamily="34" charset="0"/>
              </a:defRPr>
            </a:lvl9pPr>
          </a:lstStyle>
          <a:p>
            <a:pPr eaLnBrk="1" hangingPunct="1">
              <a:spcBef>
                <a:spcPct val="0"/>
              </a:spcBef>
              <a:spcAft>
                <a:spcPct val="0"/>
              </a:spcAft>
              <a:buFontTx/>
              <a:buNone/>
            </a:pPr>
            <a:r>
              <a:rPr sz="800" b="1" dirty="0">
                <a:solidFill>
                  <a:srgbClr val="0070C0"/>
                </a:solidFill>
                <a:latin typeface="Arial"/>
              </a:rPr>
              <a:t>Kapitola HS</a:t>
            </a: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r>
              <a:rPr sz="800" b="1" dirty="0" err="1">
                <a:solidFill>
                  <a:srgbClr val="0070C0"/>
                </a:solidFill>
                <a:latin typeface="Arial"/>
              </a:rPr>
              <a:t>Číslo</a:t>
            </a:r>
            <a:r>
              <a:rPr sz="800" b="1" dirty="0">
                <a:solidFill>
                  <a:srgbClr val="0070C0"/>
                </a:solidFill>
                <a:latin typeface="Arial"/>
              </a:rPr>
              <a:t> HS</a:t>
            </a: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r>
              <a:rPr sz="800" b="1" dirty="0" err="1">
                <a:solidFill>
                  <a:srgbClr val="0070C0"/>
                </a:solidFill>
                <a:latin typeface="Arial"/>
              </a:rPr>
              <a:t>Položka</a:t>
            </a:r>
            <a:r>
              <a:rPr sz="800" b="1" dirty="0">
                <a:solidFill>
                  <a:srgbClr val="0070C0"/>
                </a:solidFill>
                <a:latin typeface="Arial"/>
              </a:rPr>
              <a:t> HS</a:t>
            </a: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r>
              <a:rPr sz="800" b="1" dirty="0" err="1">
                <a:solidFill>
                  <a:srgbClr val="0070C0"/>
                </a:solidFill>
                <a:latin typeface="Arial"/>
              </a:rPr>
              <a:t>Podpoložka</a:t>
            </a:r>
            <a:r>
              <a:rPr sz="800" b="1" dirty="0">
                <a:solidFill>
                  <a:srgbClr val="0070C0"/>
                </a:solidFill>
                <a:latin typeface="Arial"/>
              </a:rPr>
              <a:t> KN</a:t>
            </a: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r>
              <a:rPr sz="800" b="1" dirty="0" err="1">
                <a:solidFill>
                  <a:srgbClr val="0070C0"/>
                </a:solidFill>
                <a:latin typeface="Arial"/>
              </a:rPr>
              <a:t>Kód</a:t>
            </a:r>
            <a:r>
              <a:rPr sz="800" b="1" dirty="0">
                <a:solidFill>
                  <a:srgbClr val="0070C0"/>
                </a:solidFill>
                <a:latin typeface="Arial"/>
              </a:rPr>
              <a:t> TARIC (10 </a:t>
            </a:r>
            <a:r>
              <a:rPr sz="800" b="1" dirty="0" err="1">
                <a:solidFill>
                  <a:srgbClr val="0070C0"/>
                </a:solidFill>
                <a:latin typeface="Arial"/>
              </a:rPr>
              <a:t>číslic</a:t>
            </a:r>
            <a:r>
              <a:rPr sz="800" b="1" dirty="0">
                <a:solidFill>
                  <a:srgbClr val="0070C0"/>
                </a:solidFill>
                <a:latin typeface="Arial"/>
              </a:rPr>
              <a:t>)                     </a:t>
            </a: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endParaRPr lang="cs-CZ" altLang="cs-CZ" sz="800" b="1" dirty="0">
              <a:solidFill>
                <a:srgbClr val="0070C0"/>
              </a:solidFill>
              <a:latin typeface="Arial" panose="020B0604020202020204" pitchFamily="34" charset="0"/>
              <a:cs typeface="Arial" panose="020B0604020202020204" pitchFamily="34" charset="0"/>
            </a:endParaRPr>
          </a:p>
          <a:p>
            <a:pPr eaLnBrk="1" hangingPunct="1">
              <a:spcBef>
                <a:spcPct val="0"/>
              </a:spcBef>
              <a:spcAft>
                <a:spcPct val="0"/>
              </a:spcAft>
              <a:buFontTx/>
              <a:buNone/>
            </a:pPr>
            <a:r>
              <a:rPr sz="800" b="1" dirty="0">
                <a:solidFill>
                  <a:srgbClr val="0070C0"/>
                </a:solidFill>
                <a:latin typeface="Arial"/>
              </a:rPr>
              <a:t>TARIC</a:t>
            </a:r>
          </a:p>
          <a:p>
            <a:pPr eaLnBrk="1" hangingPunct="1">
              <a:spcBef>
                <a:spcPct val="0"/>
              </a:spcBef>
              <a:spcAft>
                <a:spcPct val="0"/>
              </a:spcAft>
              <a:buFontTx/>
              <a:buNone/>
            </a:pPr>
            <a:r>
              <a:rPr sz="800" b="1" dirty="0" err="1">
                <a:solidFill>
                  <a:srgbClr val="0070C0"/>
                </a:solidFill>
                <a:latin typeface="Arial"/>
              </a:rPr>
              <a:t>Doplňkový</a:t>
            </a:r>
            <a:r>
              <a:rPr sz="800" b="1" dirty="0">
                <a:solidFill>
                  <a:srgbClr val="0070C0"/>
                </a:solidFill>
                <a:latin typeface="Arial"/>
              </a:rPr>
              <a:t> </a:t>
            </a:r>
            <a:r>
              <a:rPr sz="800" b="1" dirty="0" err="1">
                <a:solidFill>
                  <a:srgbClr val="0070C0"/>
                </a:solidFill>
                <a:latin typeface="Arial"/>
              </a:rPr>
              <a:t>kód</a:t>
            </a:r>
            <a:r>
              <a:rPr sz="800" b="1" dirty="0">
                <a:solidFill>
                  <a:srgbClr val="0070C0"/>
                </a:solidFill>
                <a:latin typeface="Arial"/>
              </a:rPr>
              <a:t> (4 </a:t>
            </a:r>
            <a:r>
              <a:rPr sz="800" b="1" dirty="0" err="1">
                <a:solidFill>
                  <a:srgbClr val="0070C0"/>
                </a:solidFill>
                <a:latin typeface="Arial"/>
              </a:rPr>
              <a:t>číslice</a:t>
            </a:r>
            <a:r>
              <a:rPr sz="800" b="1" dirty="0">
                <a:solidFill>
                  <a:srgbClr val="0070C0"/>
                </a:solidFill>
                <a:latin typeface="Arial"/>
              </a:rPr>
              <a:t>)</a:t>
            </a:r>
          </a:p>
        </p:txBody>
      </p:sp>
    </p:spTree>
    <p:extLst>
      <p:ext uri="{BB962C8B-B14F-4D97-AF65-F5344CB8AC3E}">
        <p14:creationId xmlns:p14="http://schemas.microsoft.com/office/powerpoint/2010/main" val="1144296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B751-5346-6335-1311-C98E169B669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FF887BD-CED1-BA06-6FD7-8681C009EE15}"/>
              </a:ext>
            </a:extLst>
          </p:cNvPr>
          <p:cNvSpPr>
            <a:spLocks noGrp="1"/>
          </p:cNvSpPr>
          <p:nvPr>
            <p:ph type="title"/>
          </p:nvPr>
        </p:nvSpPr>
        <p:spPr>
          <a:xfrm>
            <a:off x="838200" y="365125"/>
            <a:ext cx="10515600" cy="469265"/>
          </a:xfrm>
        </p:spPr>
        <p:txBody>
          <a:bodyPr>
            <a:noAutofit/>
          </a:bodyPr>
          <a:lstStyle/>
          <a:p>
            <a:r>
              <a:rPr sz="3600" b="1">
                <a:latin typeface="+mn-lt"/>
              </a:rPr>
              <a:t>TARIC</a:t>
            </a:r>
          </a:p>
        </p:txBody>
      </p:sp>
      <p:sp>
        <p:nvSpPr>
          <p:cNvPr id="3" name="Zástupný obsah 2">
            <a:extLst>
              <a:ext uri="{FF2B5EF4-FFF2-40B4-BE49-F238E27FC236}">
                <a16:creationId xmlns:a16="http://schemas.microsoft.com/office/drawing/2014/main" id="{325AD006-E774-A2A0-BF77-FAB8F8DA5F90}"/>
              </a:ext>
            </a:extLst>
          </p:cNvPr>
          <p:cNvSpPr>
            <a:spLocks noGrp="1"/>
          </p:cNvSpPr>
          <p:nvPr>
            <p:ph idx="1"/>
          </p:nvPr>
        </p:nvSpPr>
        <p:spPr>
          <a:xfrm>
            <a:off x="529590" y="834391"/>
            <a:ext cx="11049000" cy="5658484"/>
          </a:xfrm>
        </p:spPr>
        <p:txBody>
          <a:bodyPr>
            <a:normAutofit/>
          </a:bodyPr>
          <a:lstStyle/>
          <a:p>
            <a:r>
              <a:rPr lang="cs-CZ" sz="1600" noProof="0" dirty="0"/>
              <a:t>integrovaný sazebník Unie – databáze, která poskytuje přehled všech opatření, která je třeba uplatnit při dovozu do celního území Unie nebo vývozu z něj.</a:t>
            </a:r>
            <a:endParaRPr lang="cs-CZ" sz="1600" noProof="0" dirty="0">
              <a:cs typeface="Arial" panose="020B0604020202020204" pitchFamily="34" charset="0"/>
            </a:endParaRPr>
          </a:p>
          <a:p>
            <a:pPr marL="0" indent="0">
              <a:buNone/>
            </a:pPr>
            <a:r>
              <a:rPr lang="cs-CZ" sz="1600" noProof="0" dirty="0"/>
              <a:t>     </a:t>
            </a:r>
            <a:r>
              <a:rPr lang="cs-CZ" sz="1600" noProof="0" dirty="0">
                <a:hlinkClick r:id="rId2"/>
              </a:rPr>
              <a:t>https://ec.europa.eu/taxation_customs/dds2/taric/taric_consultation.jsp?Lang=en</a:t>
            </a:r>
            <a:endParaRPr lang="cs-CZ" sz="1600" noProof="0" dirty="0"/>
          </a:p>
          <a:p>
            <a:r>
              <a:rPr lang="cs-CZ" sz="1600" noProof="0" dirty="0"/>
              <a:t>národní verze databáze TARIC obsahují také integrovaná národní opatření vyplývající z vnitrostátních právních předpisů (např. </a:t>
            </a:r>
            <a:r>
              <a:rPr lang="cs-CZ" sz="1600" noProof="0" dirty="0">
                <a:hlinkClick r:id="rId3"/>
              </a:rPr>
              <a:t>TARIC CZ</a:t>
            </a:r>
            <a:r>
              <a:rPr lang="cs-CZ" sz="1600" noProof="0" dirty="0"/>
              <a:t>, TARIC DE)</a:t>
            </a:r>
          </a:p>
          <a:p>
            <a:pPr marL="0" indent="0">
              <a:buNone/>
            </a:pPr>
            <a:endParaRPr lang="cs-CZ" sz="1100" noProof="0" dirty="0">
              <a:cs typeface="Arial" panose="020B0604020202020204" pitchFamily="34" charset="0"/>
            </a:endParaRPr>
          </a:p>
          <a:p>
            <a:pPr lvl="1"/>
            <a:r>
              <a:rPr lang="cs-CZ" sz="1600" b="1" noProof="0" dirty="0"/>
              <a:t>Tarifní opatření:</a:t>
            </a:r>
          </a:p>
          <a:p>
            <a:pPr marL="1235697" lvl="2" indent="-321297">
              <a:spcAft>
                <a:spcPts val="337"/>
              </a:spcAft>
            </a:pPr>
            <a:r>
              <a:rPr lang="cs-CZ" sz="1600" noProof="0" dirty="0"/>
              <a:t>celní sazby použitelné na veškerý dovoz ze zemí mimo celní území Unie, stanovené v KN;</a:t>
            </a:r>
            <a:endParaRPr lang="cs-CZ" sz="1600" noProof="0" dirty="0">
              <a:ea typeface="Calibri" panose="020F0502020204030204" pitchFamily="34" charset="0"/>
            </a:endParaRPr>
          </a:p>
          <a:p>
            <a:pPr marL="1235697" lvl="2" indent="-321297">
              <a:spcAft>
                <a:spcPts val="337"/>
              </a:spcAft>
            </a:pPr>
            <a:r>
              <a:rPr lang="cs-CZ" sz="1600" noProof="0" dirty="0"/>
              <a:t>tarifní preference; autonomní pozastavení cel; celní kvóty;</a:t>
            </a:r>
          </a:p>
          <a:p>
            <a:pPr lvl="1"/>
            <a:r>
              <a:rPr lang="cs-CZ" sz="1600" b="1" noProof="0" dirty="0"/>
              <a:t>Opatření zemědělské politiky:</a:t>
            </a:r>
            <a:endParaRPr lang="cs-CZ" sz="1600" noProof="0" dirty="0">
              <a:ea typeface="Calibri" panose="020F0502020204030204" pitchFamily="34" charset="0"/>
            </a:endParaRPr>
          </a:p>
          <a:p>
            <a:pPr marL="1235697" lvl="2" indent="-321297"/>
            <a:r>
              <a:rPr lang="cs-CZ" sz="1600" noProof="0" dirty="0"/>
              <a:t>zemědělské produkty;</a:t>
            </a:r>
          </a:p>
          <a:p>
            <a:pPr marL="1235697" lvl="2" indent="-321297"/>
            <a:r>
              <a:rPr lang="cs-CZ" sz="1600" noProof="0" dirty="0"/>
              <a:t>dodatečná cla na cukr, obsah cukru a obsah mouky;</a:t>
            </a:r>
          </a:p>
          <a:p>
            <a:pPr marL="1235697" lvl="2" indent="-321297"/>
            <a:r>
              <a:rPr lang="cs-CZ" sz="1600" noProof="0" dirty="0"/>
              <a:t>standardní dovozní hodnoty a jednotkové ceny ovoce a zeleniny;</a:t>
            </a:r>
          </a:p>
          <a:p>
            <a:pPr marL="1235697" lvl="2" indent="-321297"/>
            <a:r>
              <a:rPr lang="cs-CZ" sz="1600" noProof="0" dirty="0"/>
              <a:t>vývozní náhrady při vývozu základních a zpracovaných zemědělských produktů.</a:t>
            </a:r>
            <a:endParaRPr lang="cs-CZ" sz="1600" b="1" noProof="0" dirty="0">
              <a:ea typeface="Calibri" panose="020F0502020204030204" pitchFamily="34" charset="0"/>
            </a:endParaRPr>
          </a:p>
          <a:p>
            <a:pPr lvl="1">
              <a:spcBef>
                <a:spcPts val="337"/>
              </a:spcBef>
              <a:spcAft>
                <a:spcPts val="337"/>
              </a:spcAft>
            </a:pPr>
            <a:r>
              <a:rPr lang="cs-CZ" sz="1600" b="1" noProof="0" dirty="0"/>
              <a:t>Nástroje na ochranu obchodu:</a:t>
            </a:r>
          </a:p>
          <a:p>
            <a:pPr lvl="2">
              <a:spcBef>
                <a:spcPts val="337"/>
              </a:spcBef>
              <a:spcAft>
                <a:spcPts val="337"/>
              </a:spcAft>
            </a:pPr>
            <a:r>
              <a:rPr lang="cs-CZ" sz="1600" noProof="0" dirty="0"/>
              <a:t>antidumpingová cla a vyrovnávací cla.</a:t>
            </a:r>
          </a:p>
          <a:p>
            <a:pPr lvl="1"/>
            <a:r>
              <a:rPr lang="cs-CZ" sz="1600" b="1" noProof="0" dirty="0"/>
              <a:t>Zákazy a omezení pro dovoz a vývoz:</a:t>
            </a:r>
            <a:endParaRPr lang="cs-CZ" sz="1600" noProof="0" dirty="0">
              <a:ea typeface="Calibri" panose="020F0502020204030204" pitchFamily="34" charset="0"/>
            </a:endParaRPr>
          </a:p>
          <a:p>
            <a:pPr marL="1107178" lvl="2" indent="-192778"/>
            <a:r>
              <a:rPr lang="cs-CZ" sz="1600" noProof="0" dirty="0"/>
              <a:t>dovozní a/nebo vývozní kontroly určitých kategorií zboží (např. zboží CITES, kulturní statky, zařízení obsahující fluorované skleníkové plyny, zboží dvojího užití, veterinární kontroly zvířat a potravin).</a:t>
            </a:r>
            <a:endParaRPr lang="cs-CZ" sz="1600" noProof="0" dirty="0">
              <a:ea typeface="Calibri" panose="020F0502020204030204" pitchFamily="34" charset="0"/>
            </a:endParaRPr>
          </a:p>
          <a:p>
            <a:pPr marL="321297" indent="-321297"/>
            <a:endParaRPr lang="cs-CZ" sz="2400" dirty="0">
              <a:ea typeface="Calibri" panose="020F0502020204030204" pitchFamily="34" charset="0"/>
            </a:endParaRPr>
          </a:p>
          <a:p>
            <a:pPr marL="321297" indent="-321297"/>
            <a:endParaRPr lang="cs-CZ" sz="2200" dirty="0">
              <a:ea typeface="Calibri" panose="020F0502020204030204" pitchFamily="34" charset="0"/>
              <a:cs typeface="Arial" panose="020B0604020202020204" pitchFamily="34" charset="0"/>
            </a:endParaRPr>
          </a:p>
          <a:p>
            <a:pPr marL="321297" indent="-321297"/>
            <a:endParaRPr lang="cs-CZ" sz="2200" dirty="0">
              <a:ea typeface="Calibri" panose="020F0502020204030204" pitchFamily="34" charset="0"/>
              <a:cs typeface="Arial" panose="020B0604020202020204" pitchFamily="34" charset="0"/>
            </a:endParaRPr>
          </a:p>
          <a:p>
            <a:pPr marL="321297" indent="-321297"/>
            <a:endParaRPr lang="cs-CZ" dirty="0">
              <a:ea typeface="Calibri" panose="020F0502020204030204" pitchFamily="34" charset="0"/>
              <a:cs typeface="Arial" panose="020B0604020202020204" pitchFamily="34" charset="0"/>
            </a:endParaRPr>
          </a:p>
          <a:p>
            <a:endParaRPr lang="cs-CZ" sz="2800" dirty="0">
              <a:cs typeface="Arial" panose="020B0604020202020204" pitchFamily="34" charset="0"/>
            </a:endParaRPr>
          </a:p>
        </p:txBody>
      </p:sp>
    </p:spTree>
    <p:extLst>
      <p:ext uri="{BB962C8B-B14F-4D97-AF65-F5344CB8AC3E}">
        <p14:creationId xmlns:p14="http://schemas.microsoft.com/office/powerpoint/2010/main" val="3884427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D286-B314-0E84-A502-24AEB7756645}"/>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9B6B1E1-591C-465B-5412-45C32BCE47FF}"/>
              </a:ext>
            </a:extLst>
          </p:cNvPr>
          <p:cNvSpPr>
            <a:spLocks noGrp="1"/>
          </p:cNvSpPr>
          <p:nvPr>
            <p:ph type="title"/>
          </p:nvPr>
        </p:nvSpPr>
        <p:spPr>
          <a:xfrm>
            <a:off x="838200" y="365125"/>
            <a:ext cx="10515600" cy="766445"/>
          </a:xfrm>
        </p:spPr>
        <p:txBody>
          <a:bodyPr>
            <a:normAutofit/>
          </a:bodyPr>
          <a:lstStyle/>
          <a:p>
            <a:r>
              <a:rPr sz="3600">
                <a:latin typeface="+mn-lt"/>
              </a:rPr>
              <a:t>TARIC</a:t>
            </a:r>
          </a:p>
        </p:txBody>
      </p:sp>
      <p:pic>
        <p:nvPicPr>
          <p:cNvPr id="7" name="Obrázek 6">
            <a:extLst>
              <a:ext uri="{FF2B5EF4-FFF2-40B4-BE49-F238E27FC236}">
                <a16:creationId xmlns:a16="http://schemas.microsoft.com/office/drawing/2014/main" id="{7025A687-EFE9-D9AE-4160-B440588EA9A1}"/>
              </a:ext>
            </a:extLst>
          </p:cNvPr>
          <p:cNvPicPr>
            <a:picLocks noChangeAspect="1"/>
          </p:cNvPicPr>
          <p:nvPr/>
        </p:nvPicPr>
        <p:blipFill>
          <a:blip r:embed="rId3"/>
          <a:stretch>
            <a:fillRect/>
          </a:stretch>
        </p:blipFill>
        <p:spPr>
          <a:xfrm>
            <a:off x="1384300" y="1317031"/>
            <a:ext cx="8418939" cy="4859932"/>
          </a:xfrm>
          <a:prstGeom prst="rect">
            <a:avLst/>
          </a:prstGeom>
        </p:spPr>
      </p:pic>
    </p:spTree>
    <p:extLst>
      <p:ext uri="{BB962C8B-B14F-4D97-AF65-F5344CB8AC3E}">
        <p14:creationId xmlns:p14="http://schemas.microsoft.com/office/powerpoint/2010/main" val="1669380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1FA98-46A3-4297-5D1A-804CBC619993}"/>
            </a:ext>
          </a:extLst>
        </p:cNvPr>
        <p:cNvGrpSpPr/>
        <p:nvPr/>
      </p:nvGrpSpPr>
      <p:grpSpPr>
        <a:xfrm>
          <a:off x="0" y="0"/>
          <a:ext cx="0" cy="0"/>
          <a:chOff x="0" y="0"/>
          <a:chExt cx="0" cy="0"/>
        </a:xfrm>
      </p:grpSpPr>
      <p:pic>
        <p:nvPicPr>
          <p:cNvPr id="6" name="Obrázek 5">
            <a:extLst>
              <a:ext uri="{FF2B5EF4-FFF2-40B4-BE49-F238E27FC236}">
                <a16:creationId xmlns:a16="http://schemas.microsoft.com/office/drawing/2014/main" id="{C91E1C2B-B9C0-11BB-193C-3E08FF624823}"/>
              </a:ext>
            </a:extLst>
          </p:cNvPr>
          <p:cNvPicPr>
            <a:picLocks noChangeAspect="1"/>
          </p:cNvPicPr>
          <p:nvPr/>
        </p:nvPicPr>
        <p:blipFill>
          <a:blip r:embed="rId3"/>
          <a:stretch>
            <a:fillRect/>
          </a:stretch>
        </p:blipFill>
        <p:spPr>
          <a:xfrm>
            <a:off x="136016" y="127000"/>
            <a:ext cx="5591684" cy="2590799"/>
          </a:xfrm>
          <a:prstGeom prst="rect">
            <a:avLst/>
          </a:prstGeom>
        </p:spPr>
      </p:pic>
      <p:pic>
        <p:nvPicPr>
          <p:cNvPr id="11" name="Obrázek 10">
            <a:extLst>
              <a:ext uri="{FF2B5EF4-FFF2-40B4-BE49-F238E27FC236}">
                <a16:creationId xmlns:a16="http://schemas.microsoft.com/office/drawing/2014/main" id="{39A42A25-D701-9878-5E59-E2A7EB82C0A4}"/>
              </a:ext>
            </a:extLst>
          </p:cNvPr>
          <p:cNvPicPr>
            <a:picLocks noChangeAspect="1"/>
          </p:cNvPicPr>
          <p:nvPr/>
        </p:nvPicPr>
        <p:blipFill>
          <a:blip r:embed="rId4"/>
          <a:stretch>
            <a:fillRect/>
          </a:stretch>
        </p:blipFill>
        <p:spPr>
          <a:xfrm>
            <a:off x="136016" y="2781300"/>
            <a:ext cx="5591684" cy="3949700"/>
          </a:xfrm>
          <a:prstGeom prst="rect">
            <a:avLst/>
          </a:prstGeom>
        </p:spPr>
      </p:pic>
      <p:sp>
        <p:nvSpPr>
          <p:cNvPr id="12" name="Obdélník: se zakulacenými rohy 11">
            <a:extLst>
              <a:ext uri="{FF2B5EF4-FFF2-40B4-BE49-F238E27FC236}">
                <a16:creationId xmlns:a16="http://schemas.microsoft.com/office/drawing/2014/main" id="{FC96B2BF-C1C5-DF7A-513B-5AA25031EA11}"/>
              </a:ext>
            </a:extLst>
          </p:cNvPr>
          <p:cNvSpPr/>
          <p:nvPr/>
        </p:nvSpPr>
        <p:spPr>
          <a:xfrm>
            <a:off x="412750" y="3378200"/>
            <a:ext cx="2082800" cy="311150"/>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14" name="Obrázek 13">
            <a:extLst>
              <a:ext uri="{FF2B5EF4-FFF2-40B4-BE49-F238E27FC236}">
                <a16:creationId xmlns:a16="http://schemas.microsoft.com/office/drawing/2014/main" id="{C67112CE-6835-07F3-4C28-64A23E30B1BA}"/>
              </a:ext>
            </a:extLst>
          </p:cNvPr>
          <p:cNvPicPr>
            <a:picLocks noChangeAspect="1"/>
          </p:cNvPicPr>
          <p:nvPr/>
        </p:nvPicPr>
        <p:blipFill>
          <a:blip r:embed="rId5"/>
          <a:stretch>
            <a:fillRect/>
          </a:stretch>
        </p:blipFill>
        <p:spPr>
          <a:xfrm>
            <a:off x="5835078" y="127000"/>
            <a:ext cx="6220905" cy="3562350"/>
          </a:xfrm>
          <a:prstGeom prst="rect">
            <a:avLst/>
          </a:prstGeom>
        </p:spPr>
      </p:pic>
      <p:pic>
        <p:nvPicPr>
          <p:cNvPr id="16" name="Obrázek 15">
            <a:extLst>
              <a:ext uri="{FF2B5EF4-FFF2-40B4-BE49-F238E27FC236}">
                <a16:creationId xmlns:a16="http://schemas.microsoft.com/office/drawing/2014/main" id="{5B037F43-699B-642D-B9C7-0E57400AB9D8}"/>
              </a:ext>
            </a:extLst>
          </p:cNvPr>
          <p:cNvPicPr>
            <a:picLocks noChangeAspect="1"/>
          </p:cNvPicPr>
          <p:nvPr/>
        </p:nvPicPr>
        <p:blipFill>
          <a:blip r:embed="rId6"/>
          <a:stretch>
            <a:fillRect/>
          </a:stretch>
        </p:blipFill>
        <p:spPr>
          <a:xfrm>
            <a:off x="5835078" y="3755688"/>
            <a:ext cx="6166422" cy="2973847"/>
          </a:xfrm>
          <a:prstGeom prst="rect">
            <a:avLst/>
          </a:prstGeom>
        </p:spPr>
      </p:pic>
      <p:cxnSp>
        <p:nvCxnSpPr>
          <p:cNvPr id="18" name="Přímá spojnice se šipkou 17">
            <a:extLst>
              <a:ext uri="{FF2B5EF4-FFF2-40B4-BE49-F238E27FC236}">
                <a16:creationId xmlns:a16="http://schemas.microsoft.com/office/drawing/2014/main" id="{F544A785-A155-675D-508D-A6C93613A509}"/>
              </a:ext>
            </a:extLst>
          </p:cNvPr>
          <p:cNvCxnSpPr/>
          <p:nvPr/>
        </p:nvCxnSpPr>
        <p:spPr>
          <a:xfrm flipV="1">
            <a:off x="2813050" y="2235200"/>
            <a:ext cx="3454400" cy="1282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bdélník: se zakulacenými rohy 18">
            <a:extLst>
              <a:ext uri="{FF2B5EF4-FFF2-40B4-BE49-F238E27FC236}">
                <a16:creationId xmlns:a16="http://schemas.microsoft.com/office/drawing/2014/main" id="{DB8F2746-9C05-CAB0-3A85-BADAB5A30A84}"/>
              </a:ext>
            </a:extLst>
          </p:cNvPr>
          <p:cNvSpPr/>
          <p:nvPr/>
        </p:nvSpPr>
        <p:spPr>
          <a:xfrm>
            <a:off x="8375650" y="965200"/>
            <a:ext cx="254000" cy="889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cxnSp>
        <p:nvCxnSpPr>
          <p:cNvPr id="21" name="Spojnice: pravoúhlá 20">
            <a:extLst>
              <a:ext uri="{FF2B5EF4-FFF2-40B4-BE49-F238E27FC236}">
                <a16:creationId xmlns:a16="http://schemas.microsoft.com/office/drawing/2014/main" id="{F260155B-1BF0-CEBA-5BA4-3D717DE9511A}"/>
              </a:ext>
            </a:extLst>
          </p:cNvPr>
          <p:cNvCxnSpPr>
            <a:cxnSpLocks/>
          </p:cNvCxnSpPr>
          <p:nvPr/>
        </p:nvCxnSpPr>
        <p:spPr>
          <a:xfrm rot="16200000" flipH="1">
            <a:off x="7316670" y="2322630"/>
            <a:ext cx="2790488" cy="75628"/>
          </a:xfrm>
          <a:prstGeom prst="bentConnector3">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887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A3846-5DF1-2729-1634-AA46720A560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EFC3649-1CF4-950C-18F0-7C514420411B}"/>
              </a:ext>
            </a:extLst>
          </p:cNvPr>
          <p:cNvSpPr>
            <a:spLocks noGrp="1"/>
          </p:cNvSpPr>
          <p:nvPr>
            <p:ph type="title"/>
          </p:nvPr>
        </p:nvSpPr>
        <p:spPr>
          <a:xfrm>
            <a:off x="461010" y="180276"/>
            <a:ext cx="10515600" cy="572135"/>
          </a:xfrm>
        </p:spPr>
        <p:txBody>
          <a:bodyPr>
            <a:normAutofit/>
          </a:bodyPr>
          <a:lstStyle/>
          <a:p>
            <a:r>
              <a:rPr sz="2800" b="1">
                <a:latin typeface="+mn-lt"/>
              </a:rPr>
              <a:t>Všeobecná pravidla pro výklad KN (VPV KN)</a:t>
            </a:r>
            <a:endParaRPr lang="cs-CZ" sz="2800" b="1" dirty="0">
              <a:latin typeface="+mn-lt"/>
            </a:endParaRPr>
          </a:p>
        </p:txBody>
      </p:sp>
      <p:sp>
        <p:nvSpPr>
          <p:cNvPr id="3" name="Zástupný obsah 2">
            <a:extLst>
              <a:ext uri="{FF2B5EF4-FFF2-40B4-BE49-F238E27FC236}">
                <a16:creationId xmlns:a16="http://schemas.microsoft.com/office/drawing/2014/main" id="{437DAD0F-0A0D-065C-F494-B093964C8FD6}"/>
              </a:ext>
            </a:extLst>
          </p:cNvPr>
          <p:cNvSpPr>
            <a:spLocks noGrp="1"/>
          </p:cNvSpPr>
          <p:nvPr>
            <p:ph idx="1"/>
          </p:nvPr>
        </p:nvSpPr>
        <p:spPr>
          <a:xfrm>
            <a:off x="461010" y="752411"/>
            <a:ext cx="11269980" cy="5925313"/>
          </a:xfrm>
        </p:spPr>
        <p:txBody>
          <a:bodyPr>
            <a:normAutofit/>
          </a:bodyPr>
          <a:lstStyle/>
          <a:p>
            <a:r>
              <a:rPr lang="cs-CZ" sz="1600" noProof="0" dirty="0"/>
              <a:t>existuje šest pravidel, která určují zásady, na nichž jsou HS i KN založeny, tj. obecná pravidla zajišťující jednotný výklad nomenklatury – </a:t>
            </a:r>
            <a:r>
              <a:rPr lang="cs-CZ" sz="1600" b="1" i="1" u="sng" noProof="0" dirty="0"/>
              <a:t>při zařazování zboží do KN (celního sazebníku) se přímo uplatňují </a:t>
            </a:r>
            <a:r>
              <a:rPr lang="cs-CZ" sz="1600" noProof="0" dirty="0"/>
              <a:t>=&gt; určitý druh zboží tak bude vždy zařazen do stejného čísla, položky nebo podpoložky a je vyloučen ze všech ostatních čísel, která by přicházela v úvahu</a:t>
            </a:r>
          </a:p>
          <a:p>
            <a:pPr marL="0" indent="0">
              <a:buNone/>
            </a:pPr>
            <a:endParaRPr lang="cs-CZ" sz="100" noProof="0" dirty="0"/>
          </a:p>
          <a:p>
            <a:r>
              <a:rPr lang="cs-CZ" sz="1600" b="1" noProof="0" dirty="0"/>
              <a:t>VPV 1   </a:t>
            </a:r>
            <a:r>
              <a:rPr lang="cs-CZ" sz="1600" noProof="0" dirty="0"/>
              <a:t>Znění názvů tříd, kapitol a podkapitol má pouze orientační charakter; </a:t>
            </a:r>
            <a:r>
              <a:rPr lang="cs-CZ" sz="1600" b="1" noProof="0" dirty="0"/>
              <a:t>pro právní účely se zboží zařazuje podle znění čísel a příslušných poznámek ke třídám nebo kapitolám </a:t>
            </a:r>
            <a:r>
              <a:rPr lang="cs-CZ" sz="1600" noProof="0" dirty="0"/>
              <a:t>a, pokud tato čísla nebo poznámky nestanoví jinak, podle následujících pravidel.</a:t>
            </a:r>
          </a:p>
          <a:p>
            <a:r>
              <a:rPr lang="cs-CZ" sz="1600" b="1" noProof="0" dirty="0"/>
              <a:t>VPV 6 </a:t>
            </a:r>
            <a:r>
              <a:rPr lang="cs-CZ" sz="1600" noProof="0" dirty="0"/>
              <a:t>Pro právní účely se zboží </a:t>
            </a:r>
            <a:r>
              <a:rPr lang="cs-CZ" sz="1600" b="1" noProof="0" dirty="0"/>
              <a:t>zařazuje do položek/podpoložek určitého čísla podle znění těchto položek/podpoložek a příslušných poznámek k položkám/podpoložkám a přiměřeně podle výše uvedených pravidel (VPV 1-5)</a:t>
            </a:r>
            <a:r>
              <a:rPr lang="cs-CZ" sz="1600" noProof="0" dirty="0"/>
              <a:t>, přičemž </a:t>
            </a:r>
            <a:r>
              <a:rPr lang="cs-CZ" sz="1600" b="1" noProof="0" dirty="0"/>
              <a:t>lze porovnávat pouze položky/podpoložky stejné úrovně</a:t>
            </a:r>
            <a:r>
              <a:rPr lang="cs-CZ" sz="1600" noProof="0" dirty="0"/>
              <a:t>. Pro účely tohoto pravidla se použijí také příslušné poznámky ke třídám a kapitolám, pokud z kontextu nevyplývá jinak.</a:t>
            </a:r>
          </a:p>
          <a:p>
            <a:pPr marL="0" indent="0">
              <a:buNone/>
            </a:pPr>
            <a:endParaRPr lang="cs-CZ" sz="900" dirty="0"/>
          </a:p>
          <a:p>
            <a:endParaRPr lang="cs-CZ" sz="1400" dirty="0"/>
          </a:p>
          <a:p>
            <a:endParaRPr lang="cs-CZ" sz="1400" b="1" dirty="0"/>
          </a:p>
          <a:p>
            <a:endParaRPr lang="cs-CZ" sz="1800" dirty="0"/>
          </a:p>
          <a:p>
            <a:pPr marL="0" indent="0">
              <a:buNone/>
            </a:pPr>
            <a:endParaRPr lang="cs-CZ" dirty="0"/>
          </a:p>
        </p:txBody>
      </p:sp>
      <p:pic>
        <p:nvPicPr>
          <p:cNvPr id="5" name="Obrázek 4">
            <a:extLst>
              <a:ext uri="{FF2B5EF4-FFF2-40B4-BE49-F238E27FC236}">
                <a16:creationId xmlns:a16="http://schemas.microsoft.com/office/drawing/2014/main" id="{814059ED-B0E0-FCE0-96D3-D15433C63277}"/>
              </a:ext>
            </a:extLst>
          </p:cNvPr>
          <p:cNvPicPr>
            <a:picLocks noChangeAspect="1"/>
          </p:cNvPicPr>
          <p:nvPr/>
        </p:nvPicPr>
        <p:blipFill>
          <a:blip r:embed="rId2"/>
          <a:stretch>
            <a:fillRect/>
          </a:stretch>
        </p:blipFill>
        <p:spPr>
          <a:xfrm>
            <a:off x="779121" y="3302000"/>
            <a:ext cx="4758136" cy="3274411"/>
          </a:xfrm>
          <a:prstGeom prst="rect">
            <a:avLst/>
          </a:prstGeom>
        </p:spPr>
      </p:pic>
      <p:pic>
        <p:nvPicPr>
          <p:cNvPr id="7" name="Obrázek 6">
            <a:extLst>
              <a:ext uri="{FF2B5EF4-FFF2-40B4-BE49-F238E27FC236}">
                <a16:creationId xmlns:a16="http://schemas.microsoft.com/office/drawing/2014/main" id="{C4624A97-42C9-9FD5-1351-B0400F4A121F}"/>
              </a:ext>
            </a:extLst>
          </p:cNvPr>
          <p:cNvPicPr>
            <a:picLocks noChangeAspect="1"/>
          </p:cNvPicPr>
          <p:nvPr/>
        </p:nvPicPr>
        <p:blipFill>
          <a:blip r:embed="rId3"/>
          <a:stretch>
            <a:fillRect/>
          </a:stretch>
        </p:blipFill>
        <p:spPr>
          <a:xfrm>
            <a:off x="6496050" y="3302000"/>
            <a:ext cx="2209800" cy="2209800"/>
          </a:xfrm>
          <a:prstGeom prst="rect">
            <a:avLst/>
          </a:prstGeom>
        </p:spPr>
      </p:pic>
      <p:sp>
        <p:nvSpPr>
          <p:cNvPr id="9" name="TextovéPole 8">
            <a:extLst>
              <a:ext uri="{FF2B5EF4-FFF2-40B4-BE49-F238E27FC236}">
                <a16:creationId xmlns:a16="http://schemas.microsoft.com/office/drawing/2014/main" id="{BD6F4CC4-08A2-A2C8-9352-24D7594072FC}"/>
              </a:ext>
            </a:extLst>
          </p:cNvPr>
          <p:cNvSpPr txBox="1"/>
          <p:nvPr/>
        </p:nvSpPr>
        <p:spPr>
          <a:xfrm>
            <a:off x="6654745" y="5511800"/>
            <a:ext cx="2025650" cy="261610"/>
          </a:xfrm>
          <a:prstGeom prst="rect">
            <a:avLst/>
          </a:prstGeom>
          <a:noFill/>
        </p:spPr>
        <p:txBody>
          <a:bodyPr wrap="square" rtlCol="0">
            <a:spAutoFit/>
          </a:bodyPr>
          <a:lstStyle/>
          <a:p>
            <a:r>
              <a:rPr lang="cs-CZ" sz="1100" b="1" dirty="0"/>
              <a:t>Závitořezný šroub z nerez. oceli</a:t>
            </a:r>
          </a:p>
        </p:txBody>
      </p:sp>
    </p:spTree>
    <p:extLst>
      <p:ext uri="{BB962C8B-B14F-4D97-AF65-F5344CB8AC3E}">
        <p14:creationId xmlns:p14="http://schemas.microsoft.com/office/powerpoint/2010/main" val="1692364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obsah 2">
            <a:extLst>
              <a:ext uri="{FF2B5EF4-FFF2-40B4-BE49-F238E27FC236}">
                <a16:creationId xmlns:a16="http://schemas.microsoft.com/office/drawing/2014/main" id="{1BE3ADC9-1273-A1CD-FE77-8B23D894951B}"/>
              </a:ext>
            </a:extLst>
          </p:cNvPr>
          <p:cNvSpPr>
            <a:spLocks noGrp="1"/>
          </p:cNvSpPr>
          <p:nvPr>
            <p:ph idx="1"/>
          </p:nvPr>
        </p:nvSpPr>
        <p:spPr>
          <a:xfrm>
            <a:off x="838200" y="748145"/>
            <a:ext cx="10515600" cy="5428818"/>
          </a:xfrm>
        </p:spPr>
        <p:txBody>
          <a:bodyPr>
            <a:normAutofit/>
          </a:bodyPr>
          <a:lstStyle/>
          <a:p>
            <a:r>
              <a:rPr lang="cs-CZ" sz="1600" b="1" noProof="0" dirty="0"/>
              <a:t>VPV 2(a) </a:t>
            </a:r>
            <a:r>
              <a:rPr lang="cs-CZ" sz="1600" noProof="0" dirty="0"/>
              <a:t>Každý odkaz v čísle na výrobek zahrnuje také odkaz na tento výrobek neúplný nebo nedokončený, pokud má při předložení podstatný charakter úplného nebo dokončeného výrobku. Zahrnuje také odkaz na tento výrobek úplný nebo dokončený (nebo považovaný podle tohoto pravidla za úplný nebo dokončený), předložený v nesestaveném nebo rozloženém stavu.</a:t>
            </a:r>
          </a:p>
          <a:p>
            <a:endParaRPr lang="cs-CZ" sz="1600" noProof="0" dirty="0"/>
          </a:p>
          <a:p>
            <a:endParaRPr lang="cs-CZ" sz="1600" noProof="0" dirty="0"/>
          </a:p>
          <a:p>
            <a:endParaRPr lang="cs-CZ" sz="1600" noProof="0" dirty="0"/>
          </a:p>
          <a:p>
            <a:endParaRPr lang="cs-CZ" sz="1600" noProof="0" dirty="0"/>
          </a:p>
          <a:p>
            <a:endParaRPr lang="cs-CZ" sz="1600" noProof="0" dirty="0"/>
          </a:p>
          <a:p>
            <a:endParaRPr lang="cs-CZ" sz="1600" noProof="0" dirty="0"/>
          </a:p>
          <a:p>
            <a:endParaRPr lang="cs-CZ" sz="1600" noProof="0" dirty="0"/>
          </a:p>
          <a:p>
            <a:r>
              <a:rPr lang="cs-CZ" sz="1600" b="1" noProof="0" dirty="0"/>
              <a:t>VPV 2(b) </a:t>
            </a:r>
            <a:r>
              <a:rPr lang="cs-CZ" sz="1600" noProof="0" dirty="0"/>
              <a:t>Každý odkaz v čísle na materiál nebo látku zahrnuje také směsi nebo kombinace tohoto materiálu nebo látky s jinými materiály nebo látkami. Každý odkaz na zboží z určitého materiálu nebo látky zahrnuje zboží zcela nebo částečně z tohoto materiálu nebo látky. Zboží sestávající z více než jednoho materiálu nebo látky se zařazuje podle zásad pravidla 3.</a:t>
            </a:r>
          </a:p>
          <a:p>
            <a:endParaRPr lang="cs-CZ" dirty="0"/>
          </a:p>
        </p:txBody>
      </p:sp>
      <p:pic>
        <p:nvPicPr>
          <p:cNvPr id="5" name="Obrázek 4">
            <a:extLst>
              <a:ext uri="{FF2B5EF4-FFF2-40B4-BE49-F238E27FC236}">
                <a16:creationId xmlns:a16="http://schemas.microsoft.com/office/drawing/2014/main" id="{15C971EB-5049-F448-39D4-0F63029AE4DA}"/>
              </a:ext>
            </a:extLst>
          </p:cNvPr>
          <p:cNvPicPr>
            <a:picLocks noChangeAspect="1"/>
          </p:cNvPicPr>
          <p:nvPr/>
        </p:nvPicPr>
        <p:blipFill>
          <a:blip r:embed="rId2"/>
          <a:stretch>
            <a:fillRect/>
          </a:stretch>
        </p:blipFill>
        <p:spPr>
          <a:xfrm>
            <a:off x="1185329" y="2023501"/>
            <a:ext cx="3033181" cy="1816979"/>
          </a:xfrm>
          <a:prstGeom prst="rect">
            <a:avLst/>
          </a:prstGeom>
        </p:spPr>
      </p:pic>
    </p:spTree>
    <p:extLst>
      <p:ext uri="{BB962C8B-B14F-4D97-AF65-F5344CB8AC3E}">
        <p14:creationId xmlns:p14="http://schemas.microsoft.com/office/powerpoint/2010/main" val="120935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30A7-4157-A015-A005-904A1E2CC711}"/>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FB7AC57A-6649-E536-27C3-C125B576A24E}"/>
              </a:ext>
            </a:extLst>
          </p:cNvPr>
          <p:cNvSpPr>
            <a:spLocks noGrp="1"/>
          </p:cNvSpPr>
          <p:nvPr>
            <p:ph idx="1"/>
          </p:nvPr>
        </p:nvSpPr>
        <p:spPr>
          <a:xfrm>
            <a:off x="594360" y="493776"/>
            <a:ext cx="10984230" cy="5870448"/>
          </a:xfrm>
        </p:spPr>
        <p:txBody>
          <a:bodyPr>
            <a:normAutofit/>
          </a:bodyPr>
          <a:lstStyle/>
          <a:p>
            <a:r>
              <a:rPr sz="1600" b="1" dirty="0"/>
              <a:t>VPV </a:t>
            </a:r>
            <a:r>
              <a:rPr lang="cs-CZ" sz="1600" b="1" noProof="0" dirty="0"/>
              <a:t>3 </a:t>
            </a:r>
            <a:r>
              <a:rPr lang="cs-CZ" sz="1600" noProof="0" dirty="0"/>
              <a:t>Jestliže lze zboží podle pravidla 2(b) nebo z jakéhokoli jiného důvodu zařadit na první pohled do dvou nebo více čísel, provede se zařazení takto:</a:t>
            </a:r>
          </a:p>
          <a:p>
            <a:pPr eaLnBrk="1" hangingPunct="1"/>
            <a:endParaRPr lang="cs-CZ" sz="1600" noProof="0" dirty="0"/>
          </a:p>
          <a:p>
            <a:pPr marL="800100" lvl="1" indent="-342900">
              <a:spcBef>
                <a:spcPts val="200"/>
              </a:spcBef>
              <a:buFont typeface="+mj-lt"/>
              <a:buAutoNum type="alphaLcParenR"/>
            </a:pPr>
            <a:r>
              <a:rPr lang="cs-CZ" sz="1600" noProof="0" dirty="0"/>
              <a:t>číslo, které obsahuje nejkonkrétnější popis, má přednost před čísly s obecnějším popisem. Jestliže však dvě nebo více čísel odkazuje vždy pouze na část materiálů nebo látek obsažených ve smíšeném nebo složeném zboží nebo pouze na část položek v soupravě v úpravě pro drobný prodej, považují se tato čísla ve vztahu k takovému zboží za stejně konkrétní, i když jedno z nich podává úplnější nebo přesnější popis zboží;</a:t>
            </a:r>
          </a:p>
          <a:p>
            <a:pPr marL="800100" lvl="1" indent="-342900">
              <a:spcBef>
                <a:spcPts val="200"/>
              </a:spcBef>
              <a:buFont typeface="+mj-lt"/>
              <a:buAutoNum type="alphaLcParenR"/>
            </a:pPr>
            <a:endParaRPr lang="en-US" altLang="cs-CZ" sz="18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cs-CZ"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en-US" altLang="cs-CZ" sz="1600" dirty="0"/>
          </a:p>
          <a:p>
            <a:pPr marL="800100" lvl="1" indent="-342900">
              <a:spcBef>
                <a:spcPts val="200"/>
              </a:spcBef>
              <a:buFont typeface="+mj-lt"/>
              <a:buAutoNum type="alphaLcParenR"/>
            </a:pPr>
            <a:endParaRPr lang="cs-CZ" altLang="cs-CZ" sz="1600" dirty="0"/>
          </a:p>
          <a:p>
            <a:pPr marL="0" indent="0">
              <a:buNone/>
            </a:pPr>
            <a:endParaRPr lang="cs-CZ" sz="2000" b="0" i="0" u="none" strike="noStrike" baseline="0" dirty="0">
              <a:latin typeface="EUAlbertina"/>
            </a:endParaRPr>
          </a:p>
          <a:p>
            <a:pPr marL="0" indent="0">
              <a:buNone/>
            </a:pPr>
            <a:endParaRPr lang="cs-CZ" dirty="0"/>
          </a:p>
        </p:txBody>
      </p:sp>
      <p:sp>
        <p:nvSpPr>
          <p:cNvPr id="14" name="Znak násobení 13">
            <a:extLst>
              <a:ext uri="{FF2B5EF4-FFF2-40B4-BE49-F238E27FC236}">
                <a16:creationId xmlns:a16="http://schemas.microsoft.com/office/drawing/2014/main" id="{5631AFB3-4DB0-B5A8-2C09-66A183BC66FA}"/>
              </a:ext>
            </a:extLst>
          </p:cNvPr>
          <p:cNvSpPr/>
          <p:nvPr/>
        </p:nvSpPr>
        <p:spPr>
          <a:xfrm>
            <a:off x="3842070" y="3668780"/>
            <a:ext cx="344905" cy="336884"/>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cs-CZ" dirty="0">
              <a:solidFill>
                <a:srgbClr val="FF0000"/>
              </a:solidFill>
            </a:endParaRPr>
          </a:p>
        </p:txBody>
      </p:sp>
      <p:sp>
        <p:nvSpPr>
          <p:cNvPr id="15" name="Šipka: doprava se zářezem 14">
            <a:extLst>
              <a:ext uri="{FF2B5EF4-FFF2-40B4-BE49-F238E27FC236}">
                <a16:creationId xmlns:a16="http://schemas.microsoft.com/office/drawing/2014/main" id="{52818E99-DDBC-3083-63A2-F8410B7E136E}"/>
              </a:ext>
            </a:extLst>
          </p:cNvPr>
          <p:cNvSpPr/>
          <p:nvPr/>
        </p:nvSpPr>
        <p:spPr>
          <a:xfrm>
            <a:off x="3842070" y="5402674"/>
            <a:ext cx="336885" cy="170005"/>
          </a:xfrm>
          <a:prstGeom prst="notchedRightArrow">
            <a:avLst/>
          </a:prstGeom>
          <a:solidFill>
            <a:schemeClr val="accent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cs-CZ"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16" name="TextovéPole 15">
            <a:extLst>
              <a:ext uri="{FF2B5EF4-FFF2-40B4-BE49-F238E27FC236}">
                <a16:creationId xmlns:a16="http://schemas.microsoft.com/office/drawing/2014/main" id="{582A8A41-93AC-8A71-1CC3-209E4BF6C5C9}"/>
              </a:ext>
            </a:extLst>
          </p:cNvPr>
          <p:cNvSpPr txBox="1"/>
          <p:nvPr/>
        </p:nvSpPr>
        <p:spPr>
          <a:xfrm>
            <a:off x="613410" y="3158215"/>
            <a:ext cx="4535906" cy="338554"/>
          </a:xfrm>
          <a:prstGeom prst="rect">
            <a:avLst/>
          </a:prstGeom>
          <a:noFill/>
        </p:spPr>
        <p:txBody>
          <a:bodyPr wrap="square" rtlCol="0">
            <a:spAutoFit/>
          </a:bodyPr>
          <a:lstStyle/>
          <a:p>
            <a:r>
              <a:rPr lang="cs-CZ" sz="1600" noProof="0" dirty="0">
                <a:latin typeface="Calibri"/>
              </a:rPr>
              <a:t>Příklad </a:t>
            </a:r>
            <a:r>
              <a:rPr lang="cs-CZ" sz="1600" b="1" noProof="0" dirty="0">
                <a:latin typeface="Calibri"/>
              </a:rPr>
              <a:t>VPV 3a </a:t>
            </a:r>
            <a:r>
              <a:rPr lang="cs-CZ" sz="1600" noProof="0" dirty="0">
                <a:latin typeface="Calibri"/>
              </a:rPr>
              <a:t>– flexibilní trubky z oceli</a:t>
            </a:r>
            <a:endParaRPr lang="cs-CZ" sz="1600" noProof="0" dirty="0"/>
          </a:p>
        </p:txBody>
      </p:sp>
      <p:pic>
        <p:nvPicPr>
          <p:cNvPr id="20" name="Obrázek 19">
            <a:extLst>
              <a:ext uri="{FF2B5EF4-FFF2-40B4-BE49-F238E27FC236}">
                <a16:creationId xmlns:a16="http://schemas.microsoft.com/office/drawing/2014/main" id="{9FF3778F-9729-82E2-65E9-5DD54CB6B9E4}"/>
              </a:ext>
            </a:extLst>
          </p:cNvPr>
          <p:cNvPicPr>
            <a:picLocks noChangeAspect="1"/>
          </p:cNvPicPr>
          <p:nvPr/>
        </p:nvPicPr>
        <p:blipFill>
          <a:blip r:embed="rId2"/>
          <a:stretch>
            <a:fillRect/>
          </a:stretch>
        </p:blipFill>
        <p:spPr>
          <a:xfrm>
            <a:off x="1379247" y="3699785"/>
            <a:ext cx="2060451" cy="1433357"/>
          </a:xfrm>
          <a:prstGeom prst="rect">
            <a:avLst/>
          </a:prstGeom>
          <a:scene3d>
            <a:camera prst="orthographicFront"/>
            <a:lightRig rig="threePt" dir="t"/>
          </a:scene3d>
          <a:sp3d contourW="19050"/>
        </p:spPr>
      </p:pic>
      <p:pic>
        <p:nvPicPr>
          <p:cNvPr id="4" name="Obrázek 3">
            <a:extLst>
              <a:ext uri="{FF2B5EF4-FFF2-40B4-BE49-F238E27FC236}">
                <a16:creationId xmlns:a16="http://schemas.microsoft.com/office/drawing/2014/main" id="{2FC179D7-0870-06DF-FF56-F38E493CB8CB}"/>
              </a:ext>
            </a:extLst>
          </p:cNvPr>
          <p:cNvPicPr>
            <a:picLocks noChangeAspect="1"/>
          </p:cNvPicPr>
          <p:nvPr/>
        </p:nvPicPr>
        <p:blipFill>
          <a:blip r:embed="rId3"/>
          <a:stretch>
            <a:fillRect/>
          </a:stretch>
        </p:blipFill>
        <p:spPr>
          <a:xfrm>
            <a:off x="4281735" y="3497139"/>
            <a:ext cx="5172827" cy="1433357"/>
          </a:xfrm>
          <a:prstGeom prst="rect">
            <a:avLst/>
          </a:prstGeom>
        </p:spPr>
      </p:pic>
      <p:pic>
        <p:nvPicPr>
          <p:cNvPr id="6" name="Obrázek 5">
            <a:extLst>
              <a:ext uri="{FF2B5EF4-FFF2-40B4-BE49-F238E27FC236}">
                <a16:creationId xmlns:a16="http://schemas.microsoft.com/office/drawing/2014/main" id="{A0355A60-E3D0-D658-9B03-7054AD436314}"/>
              </a:ext>
            </a:extLst>
          </p:cNvPr>
          <p:cNvPicPr>
            <a:picLocks noChangeAspect="1"/>
          </p:cNvPicPr>
          <p:nvPr/>
        </p:nvPicPr>
        <p:blipFill>
          <a:blip r:embed="rId4"/>
          <a:stretch>
            <a:fillRect/>
          </a:stretch>
        </p:blipFill>
        <p:spPr>
          <a:xfrm>
            <a:off x="4281735" y="5208575"/>
            <a:ext cx="5175346" cy="804875"/>
          </a:xfrm>
          <a:prstGeom prst="rect">
            <a:avLst/>
          </a:prstGeom>
        </p:spPr>
      </p:pic>
    </p:spTree>
    <p:extLst>
      <p:ext uri="{BB962C8B-B14F-4D97-AF65-F5344CB8AC3E}">
        <p14:creationId xmlns:p14="http://schemas.microsoft.com/office/powerpoint/2010/main" val="743959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8281-D3BC-0676-78A2-FC9F4BB1A5BF}"/>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CAD406FA-B3A4-386C-98E2-92288C1EE8AD}"/>
              </a:ext>
            </a:extLst>
          </p:cNvPr>
          <p:cNvSpPr>
            <a:spLocks noGrp="1"/>
          </p:cNvSpPr>
          <p:nvPr>
            <p:ph idx="1"/>
          </p:nvPr>
        </p:nvSpPr>
        <p:spPr>
          <a:xfrm>
            <a:off x="838200" y="1825625"/>
            <a:ext cx="10515600" cy="3260725"/>
          </a:xfrm>
        </p:spPr>
        <p:txBody>
          <a:bodyPr/>
          <a:lstStyle/>
          <a:p>
            <a:pPr marL="0" indent="0">
              <a:buNone/>
            </a:pPr>
            <a:endParaRPr lang="cs-CZ" dirty="0"/>
          </a:p>
          <a:p>
            <a:pPr marL="0" indent="0">
              <a:buNone/>
            </a:pPr>
            <a:endParaRPr lang="cs-CZ" dirty="0"/>
          </a:p>
        </p:txBody>
      </p:sp>
      <p:pic>
        <p:nvPicPr>
          <p:cNvPr id="8" name="Obrázek 7">
            <a:extLst>
              <a:ext uri="{FF2B5EF4-FFF2-40B4-BE49-F238E27FC236}">
                <a16:creationId xmlns:a16="http://schemas.microsoft.com/office/drawing/2014/main" id="{947CF530-391A-19FA-3DF8-275DD12795FC}"/>
              </a:ext>
            </a:extLst>
          </p:cNvPr>
          <p:cNvPicPr>
            <a:picLocks noChangeAspect="1"/>
          </p:cNvPicPr>
          <p:nvPr/>
        </p:nvPicPr>
        <p:blipFill>
          <a:blip r:embed="rId2"/>
          <a:stretch>
            <a:fillRect/>
          </a:stretch>
        </p:blipFill>
        <p:spPr>
          <a:xfrm>
            <a:off x="876300" y="2839829"/>
            <a:ext cx="1616242" cy="1762435"/>
          </a:xfrm>
          <a:prstGeom prst="rect">
            <a:avLst/>
          </a:prstGeom>
          <a:scene3d>
            <a:camera prst="orthographicFront"/>
            <a:lightRig rig="threePt" dir="t"/>
          </a:scene3d>
          <a:sp3d contourW="19050"/>
        </p:spPr>
      </p:pic>
      <p:sp>
        <p:nvSpPr>
          <p:cNvPr id="23" name="Znak násobení 22">
            <a:extLst>
              <a:ext uri="{FF2B5EF4-FFF2-40B4-BE49-F238E27FC236}">
                <a16:creationId xmlns:a16="http://schemas.microsoft.com/office/drawing/2014/main" id="{83BDC801-3A35-F77E-E887-9CC19F32B2CF}"/>
              </a:ext>
            </a:extLst>
          </p:cNvPr>
          <p:cNvSpPr/>
          <p:nvPr/>
        </p:nvSpPr>
        <p:spPr>
          <a:xfrm>
            <a:off x="2572751" y="2978252"/>
            <a:ext cx="344905" cy="336884"/>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4" name="Znak násobení 23">
            <a:extLst>
              <a:ext uri="{FF2B5EF4-FFF2-40B4-BE49-F238E27FC236}">
                <a16:creationId xmlns:a16="http://schemas.microsoft.com/office/drawing/2014/main" id="{53CAAD52-BB9E-54A5-F046-FEE831C9DB01}"/>
              </a:ext>
            </a:extLst>
          </p:cNvPr>
          <p:cNvSpPr/>
          <p:nvPr/>
        </p:nvSpPr>
        <p:spPr>
          <a:xfrm>
            <a:off x="2564731" y="3368455"/>
            <a:ext cx="344905" cy="336884"/>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7" name="Šipka: doprava se zářezem 26">
            <a:extLst>
              <a:ext uri="{FF2B5EF4-FFF2-40B4-BE49-F238E27FC236}">
                <a16:creationId xmlns:a16="http://schemas.microsoft.com/office/drawing/2014/main" id="{5C3FD0C2-549B-CACE-0A74-451C65DA82CF}"/>
              </a:ext>
            </a:extLst>
          </p:cNvPr>
          <p:cNvSpPr/>
          <p:nvPr/>
        </p:nvSpPr>
        <p:spPr>
          <a:xfrm>
            <a:off x="2582780" y="4120619"/>
            <a:ext cx="310818" cy="216062"/>
          </a:xfrm>
          <a:prstGeom prst="notchedRightArrow">
            <a:avLst/>
          </a:prstGeom>
          <a:solidFill>
            <a:schemeClr val="accent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cs-CZ"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9" name="TextovéPole 28">
            <a:extLst>
              <a:ext uri="{FF2B5EF4-FFF2-40B4-BE49-F238E27FC236}">
                <a16:creationId xmlns:a16="http://schemas.microsoft.com/office/drawing/2014/main" id="{EF354AC1-D613-18B0-CB14-0099BF9FA4D8}"/>
              </a:ext>
            </a:extLst>
          </p:cNvPr>
          <p:cNvSpPr txBox="1"/>
          <p:nvPr/>
        </p:nvSpPr>
        <p:spPr>
          <a:xfrm>
            <a:off x="747963" y="2349482"/>
            <a:ext cx="4864769" cy="338554"/>
          </a:xfrm>
          <a:prstGeom prst="rect">
            <a:avLst/>
          </a:prstGeom>
          <a:noFill/>
        </p:spPr>
        <p:txBody>
          <a:bodyPr wrap="square" rtlCol="0">
            <a:spAutoFit/>
          </a:bodyPr>
          <a:lstStyle/>
          <a:p>
            <a:r>
              <a:rPr lang="cs-CZ" sz="1600" noProof="0" dirty="0">
                <a:latin typeface="Calibri"/>
              </a:rPr>
              <a:t>Příklad </a:t>
            </a:r>
            <a:r>
              <a:rPr lang="cs-CZ" sz="1600" b="1" noProof="0" dirty="0">
                <a:latin typeface="Calibri"/>
              </a:rPr>
              <a:t>VPV 3b </a:t>
            </a:r>
            <a:r>
              <a:rPr lang="cs-CZ" sz="1600" noProof="0" dirty="0">
                <a:latin typeface="Calibri"/>
              </a:rPr>
              <a:t>– dětské chladicí kousátko</a:t>
            </a:r>
            <a:endParaRPr lang="cs-CZ" sz="1600" noProof="0" dirty="0"/>
          </a:p>
        </p:txBody>
      </p:sp>
      <p:sp>
        <p:nvSpPr>
          <p:cNvPr id="36" name="TextovéPole 35">
            <a:extLst>
              <a:ext uri="{FF2B5EF4-FFF2-40B4-BE49-F238E27FC236}">
                <a16:creationId xmlns:a16="http://schemas.microsoft.com/office/drawing/2014/main" id="{7EED4A9F-261B-4C4F-B2B8-0A58C8B19C7A}"/>
              </a:ext>
            </a:extLst>
          </p:cNvPr>
          <p:cNvSpPr txBox="1"/>
          <p:nvPr/>
        </p:nvSpPr>
        <p:spPr>
          <a:xfrm>
            <a:off x="385146" y="752749"/>
            <a:ext cx="10968654" cy="830997"/>
          </a:xfrm>
          <a:prstGeom prst="rect">
            <a:avLst/>
          </a:prstGeom>
          <a:noFill/>
        </p:spPr>
        <p:txBody>
          <a:bodyPr wrap="square">
            <a:spAutoFit/>
          </a:bodyPr>
          <a:lstStyle/>
          <a:p>
            <a:pPr marL="800100" lvl="1" indent="-342900">
              <a:spcBef>
                <a:spcPts val="200"/>
              </a:spcBef>
              <a:buFont typeface="+mj-lt"/>
              <a:buAutoNum type="alphaLcParenR" startAt="2"/>
            </a:pPr>
            <a:r>
              <a:rPr lang="cs-CZ" sz="1600" noProof="0" dirty="0"/>
              <a:t>směsi, složené zboží sestávající z různých materiálů nebo vyrobené z různých součástí a zboží v soupravách v úpravě pro drobný prodej, které nelze zařadit podle pravidla 3(a), se zařadí tak, jako by sestávalo z materiálu nebo součásti, které mu dávají podstatný charakter, pokud je toto kritérium použitelné;</a:t>
            </a:r>
          </a:p>
        </p:txBody>
      </p:sp>
      <p:pic>
        <p:nvPicPr>
          <p:cNvPr id="4" name="Obrázek 3">
            <a:extLst>
              <a:ext uri="{FF2B5EF4-FFF2-40B4-BE49-F238E27FC236}">
                <a16:creationId xmlns:a16="http://schemas.microsoft.com/office/drawing/2014/main" id="{86BEDC1B-33B1-8BBB-9D7E-A280E9CD84E1}"/>
              </a:ext>
            </a:extLst>
          </p:cNvPr>
          <p:cNvPicPr>
            <a:picLocks noChangeAspect="1"/>
          </p:cNvPicPr>
          <p:nvPr/>
        </p:nvPicPr>
        <p:blipFill>
          <a:blip r:embed="rId3"/>
          <a:stretch>
            <a:fillRect/>
          </a:stretch>
        </p:blipFill>
        <p:spPr>
          <a:xfrm>
            <a:off x="2981824" y="2950278"/>
            <a:ext cx="8149389" cy="346291"/>
          </a:xfrm>
          <a:prstGeom prst="rect">
            <a:avLst/>
          </a:prstGeom>
        </p:spPr>
      </p:pic>
      <p:pic>
        <p:nvPicPr>
          <p:cNvPr id="6" name="Obrázek 5">
            <a:extLst>
              <a:ext uri="{FF2B5EF4-FFF2-40B4-BE49-F238E27FC236}">
                <a16:creationId xmlns:a16="http://schemas.microsoft.com/office/drawing/2014/main" id="{89395BA8-C1CA-E28A-CE75-F24C4EDAE364}"/>
              </a:ext>
            </a:extLst>
          </p:cNvPr>
          <p:cNvPicPr>
            <a:picLocks noChangeAspect="1"/>
          </p:cNvPicPr>
          <p:nvPr/>
        </p:nvPicPr>
        <p:blipFill>
          <a:blip r:embed="rId4"/>
          <a:stretch>
            <a:fillRect/>
          </a:stretch>
        </p:blipFill>
        <p:spPr>
          <a:xfrm>
            <a:off x="2981824" y="3393608"/>
            <a:ext cx="8149389" cy="235528"/>
          </a:xfrm>
          <a:prstGeom prst="rect">
            <a:avLst/>
          </a:prstGeom>
        </p:spPr>
      </p:pic>
      <p:pic>
        <p:nvPicPr>
          <p:cNvPr id="9" name="Obrázek 8">
            <a:extLst>
              <a:ext uri="{FF2B5EF4-FFF2-40B4-BE49-F238E27FC236}">
                <a16:creationId xmlns:a16="http://schemas.microsoft.com/office/drawing/2014/main" id="{6D2CD605-E655-7831-B189-40A952436EA8}"/>
              </a:ext>
            </a:extLst>
          </p:cNvPr>
          <p:cNvPicPr>
            <a:picLocks noChangeAspect="1"/>
          </p:cNvPicPr>
          <p:nvPr/>
        </p:nvPicPr>
        <p:blipFill>
          <a:blip r:embed="rId5"/>
          <a:stretch>
            <a:fillRect/>
          </a:stretch>
        </p:blipFill>
        <p:spPr>
          <a:xfrm>
            <a:off x="2981824" y="4120619"/>
            <a:ext cx="8149389" cy="323460"/>
          </a:xfrm>
          <a:prstGeom prst="rect">
            <a:avLst/>
          </a:prstGeom>
        </p:spPr>
      </p:pic>
    </p:spTree>
    <p:extLst>
      <p:ext uri="{BB962C8B-B14F-4D97-AF65-F5344CB8AC3E}">
        <p14:creationId xmlns:p14="http://schemas.microsoft.com/office/powerpoint/2010/main" val="3392043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84E3-5BAF-5FD5-C59C-9213C98697C9}"/>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48EB284E-7BF3-B263-AE7D-54E3E45E2504}"/>
              </a:ext>
            </a:extLst>
          </p:cNvPr>
          <p:cNvSpPr>
            <a:spLocks noGrp="1"/>
          </p:cNvSpPr>
          <p:nvPr>
            <p:ph idx="1"/>
          </p:nvPr>
        </p:nvSpPr>
        <p:spPr/>
        <p:txBody>
          <a:bodyPr/>
          <a:lstStyle/>
          <a:p>
            <a:pPr marL="0" indent="0">
              <a:buNone/>
            </a:pPr>
            <a:endParaRPr lang="cs-CZ" dirty="0"/>
          </a:p>
          <a:p>
            <a:pPr marL="0" indent="0">
              <a:buNone/>
            </a:pPr>
            <a:endParaRPr lang="cs-CZ" dirty="0"/>
          </a:p>
        </p:txBody>
      </p:sp>
      <p:sp>
        <p:nvSpPr>
          <p:cNvPr id="22" name="Znak násobení 21">
            <a:extLst>
              <a:ext uri="{FF2B5EF4-FFF2-40B4-BE49-F238E27FC236}">
                <a16:creationId xmlns:a16="http://schemas.microsoft.com/office/drawing/2014/main" id="{3DDAFAEE-BA26-6C3B-7AE4-B4BC93772907}"/>
              </a:ext>
            </a:extLst>
          </p:cNvPr>
          <p:cNvSpPr/>
          <p:nvPr/>
        </p:nvSpPr>
        <p:spPr>
          <a:xfrm>
            <a:off x="2545177" y="5278546"/>
            <a:ext cx="344905" cy="336884"/>
          </a:xfrm>
          <a:prstGeom prst="mathMultiply">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cs-CZ" dirty="0">
              <a:solidFill>
                <a:srgbClr val="FF0000"/>
              </a:solidFill>
            </a:endParaRPr>
          </a:p>
        </p:txBody>
      </p:sp>
      <p:sp>
        <p:nvSpPr>
          <p:cNvPr id="25" name="Šipka: doprava se zářezem 24">
            <a:extLst>
              <a:ext uri="{FF2B5EF4-FFF2-40B4-BE49-F238E27FC236}">
                <a16:creationId xmlns:a16="http://schemas.microsoft.com/office/drawing/2014/main" id="{6A3F21E8-2797-20A5-7DF2-E483569C5EC7}"/>
              </a:ext>
            </a:extLst>
          </p:cNvPr>
          <p:cNvSpPr/>
          <p:nvPr/>
        </p:nvSpPr>
        <p:spPr>
          <a:xfrm>
            <a:off x="2533146" y="5602216"/>
            <a:ext cx="336885" cy="170005"/>
          </a:xfrm>
          <a:prstGeom prst="notchedRightArrow">
            <a:avLst/>
          </a:prstGeom>
          <a:solidFill>
            <a:schemeClr val="accent6"/>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cs-CZ"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TextovéPole 5">
            <a:extLst>
              <a:ext uri="{FF2B5EF4-FFF2-40B4-BE49-F238E27FC236}">
                <a16:creationId xmlns:a16="http://schemas.microsoft.com/office/drawing/2014/main" id="{CA347D55-82DA-CC63-C833-69BDF0CB58FB}"/>
              </a:ext>
            </a:extLst>
          </p:cNvPr>
          <p:cNvSpPr txBox="1"/>
          <p:nvPr/>
        </p:nvSpPr>
        <p:spPr>
          <a:xfrm>
            <a:off x="594563" y="2015722"/>
            <a:ext cx="3329738" cy="338554"/>
          </a:xfrm>
          <a:prstGeom prst="rect">
            <a:avLst/>
          </a:prstGeom>
          <a:noFill/>
        </p:spPr>
        <p:txBody>
          <a:bodyPr wrap="square" rtlCol="0">
            <a:spAutoFit/>
          </a:bodyPr>
          <a:lstStyle/>
          <a:p>
            <a:r>
              <a:rPr lang="cs-CZ" sz="1600" noProof="0" dirty="0">
                <a:latin typeface="Calibri"/>
              </a:rPr>
              <a:t>Příklad </a:t>
            </a:r>
            <a:r>
              <a:rPr lang="cs-CZ" sz="1600" b="1" noProof="0" dirty="0">
                <a:latin typeface="Calibri"/>
              </a:rPr>
              <a:t>VPV 3c </a:t>
            </a:r>
            <a:r>
              <a:rPr lang="cs-CZ" sz="1600" noProof="0" dirty="0">
                <a:latin typeface="Calibri"/>
              </a:rPr>
              <a:t>– dětská chůvička</a:t>
            </a:r>
            <a:endParaRPr lang="cs-CZ" sz="1600" noProof="0" dirty="0"/>
          </a:p>
        </p:txBody>
      </p:sp>
      <p:pic>
        <p:nvPicPr>
          <p:cNvPr id="9" name="Obrázek 8">
            <a:extLst>
              <a:ext uri="{FF2B5EF4-FFF2-40B4-BE49-F238E27FC236}">
                <a16:creationId xmlns:a16="http://schemas.microsoft.com/office/drawing/2014/main" id="{1BB20342-974D-6A0B-9D4F-6D57EC3CA711}"/>
              </a:ext>
            </a:extLst>
          </p:cNvPr>
          <p:cNvPicPr>
            <a:picLocks noChangeAspect="1"/>
          </p:cNvPicPr>
          <p:nvPr/>
        </p:nvPicPr>
        <p:blipFill>
          <a:blip r:embed="rId2"/>
          <a:stretch>
            <a:fillRect/>
          </a:stretch>
        </p:blipFill>
        <p:spPr>
          <a:xfrm>
            <a:off x="690200" y="2808872"/>
            <a:ext cx="1730793" cy="1674354"/>
          </a:xfrm>
          <a:prstGeom prst="rect">
            <a:avLst/>
          </a:prstGeom>
          <a:scene3d>
            <a:camera prst="orthographicFront"/>
            <a:lightRig rig="threePt" dir="t"/>
          </a:scene3d>
          <a:sp3d contourW="19050"/>
        </p:spPr>
      </p:pic>
      <p:sp>
        <p:nvSpPr>
          <p:cNvPr id="26" name="TextovéPole 25">
            <a:extLst>
              <a:ext uri="{FF2B5EF4-FFF2-40B4-BE49-F238E27FC236}">
                <a16:creationId xmlns:a16="http://schemas.microsoft.com/office/drawing/2014/main" id="{66207F47-3745-FD08-A82B-EB515BB4EE77}"/>
              </a:ext>
            </a:extLst>
          </p:cNvPr>
          <p:cNvSpPr txBox="1"/>
          <p:nvPr/>
        </p:nvSpPr>
        <p:spPr>
          <a:xfrm>
            <a:off x="337387" y="700989"/>
            <a:ext cx="11206913" cy="584775"/>
          </a:xfrm>
          <a:prstGeom prst="rect">
            <a:avLst/>
          </a:prstGeom>
          <a:noFill/>
        </p:spPr>
        <p:txBody>
          <a:bodyPr wrap="square">
            <a:spAutoFit/>
          </a:bodyPr>
          <a:lstStyle/>
          <a:p>
            <a:pPr marL="800100" lvl="1" indent="-342900">
              <a:spcBef>
                <a:spcPts val="200"/>
              </a:spcBef>
              <a:buFont typeface="+mj-lt"/>
              <a:buAutoNum type="alphaLcParenR" startAt="3"/>
            </a:pPr>
            <a:r>
              <a:rPr lang="cs-CZ" sz="1600" noProof="0" dirty="0"/>
              <a:t>nelze-li zboží zařadit podle pravidla 3(a) ani 3(b), zařadí se do čísla, které je v číselném pořadí poslední z těch, která přicházejí v úvahu stejnou měrou.</a:t>
            </a:r>
          </a:p>
        </p:txBody>
      </p:sp>
      <p:pic>
        <p:nvPicPr>
          <p:cNvPr id="4" name="Obrázek 3">
            <a:extLst>
              <a:ext uri="{FF2B5EF4-FFF2-40B4-BE49-F238E27FC236}">
                <a16:creationId xmlns:a16="http://schemas.microsoft.com/office/drawing/2014/main" id="{C96758FC-4E19-AC4C-6CD8-F8201DBF81C2}"/>
              </a:ext>
            </a:extLst>
          </p:cNvPr>
          <p:cNvPicPr>
            <a:picLocks noChangeAspect="1"/>
          </p:cNvPicPr>
          <p:nvPr/>
        </p:nvPicPr>
        <p:blipFill>
          <a:blip r:embed="rId3"/>
          <a:stretch>
            <a:fillRect/>
          </a:stretch>
        </p:blipFill>
        <p:spPr>
          <a:xfrm>
            <a:off x="2902113" y="2861907"/>
            <a:ext cx="8877136" cy="2904054"/>
          </a:xfrm>
          <a:prstGeom prst="rect">
            <a:avLst/>
          </a:prstGeom>
        </p:spPr>
      </p:pic>
    </p:spTree>
    <p:extLst>
      <p:ext uri="{BB962C8B-B14F-4D97-AF65-F5344CB8AC3E}">
        <p14:creationId xmlns:p14="http://schemas.microsoft.com/office/powerpoint/2010/main" val="3793924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F9B0F-FEEC-B186-EE5B-5AA373C2505B}"/>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B265C722-C716-E456-3C3B-2CA5A6A9B3ED}"/>
              </a:ext>
            </a:extLst>
          </p:cNvPr>
          <p:cNvSpPr>
            <a:spLocks noGrp="1"/>
          </p:cNvSpPr>
          <p:nvPr>
            <p:ph idx="1"/>
          </p:nvPr>
        </p:nvSpPr>
        <p:spPr>
          <a:xfrm>
            <a:off x="594360" y="493776"/>
            <a:ext cx="10984230" cy="5870448"/>
          </a:xfrm>
        </p:spPr>
        <p:txBody>
          <a:bodyPr>
            <a:normAutofit/>
          </a:bodyPr>
          <a:lstStyle/>
          <a:p>
            <a:pPr marL="457200" lvl="1" indent="0">
              <a:spcBef>
                <a:spcPts val="200"/>
              </a:spcBef>
              <a:buNone/>
            </a:pPr>
            <a:endParaRPr lang="cs-CZ" sz="900" b="1" dirty="0"/>
          </a:p>
          <a:p>
            <a:r>
              <a:rPr lang="cs-CZ" sz="1600" b="1" noProof="0" dirty="0"/>
              <a:t>VPV 4 </a:t>
            </a:r>
            <a:r>
              <a:rPr lang="cs-CZ" sz="1600" noProof="0" dirty="0"/>
              <a:t>Zboží, které nelze zařadit podle výše uvedených pravidel, se zařadí do čísla odpovídajícího zboží, kterému je nejpodobnější.</a:t>
            </a:r>
            <a:endParaRPr lang="cs-CZ" sz="1600" i="0" u="none" strike="noStrike" baseline="0" noProof="0" dirty="0">
              <a:solidFill>
                <a:srgbClr val="000000"/>
              </a:solidFill>
            </a:endParaRPr>
          </a:p>
          <a:p>
            <a:pPr marL="0" indent="0">
              <a:buNone/>
            </a:pPr>
            <a:endParaRPr lang="cs-CZ" sz="1600" noProof="0" dirty="0"/>
          </a:p>
          <a:p>
            <a:r>
              <a:rPr lang="cs-CZ" sz="1600" b="1" noProof="0" dirty="0"/>
              <a:t>VPV 5  </a:t>
            </a:r>
            <a:r>
              <a:rPr lang="cs-CZ" sz="1600" noProof="0" dirty="0"/>
              <a:t>Kromě výše uvedených ustanovení se na níže uvedené zboží použijí tato pravidla:</a:t>
            </a:r>
          </a:p>
          <a:p>
            <a:pPr marL="457200" lvl="1" indent="0">
              <a:buNone/>
            </a:pPr>
            <a:r>
              <a:rPr lang="cs-CZ" sz="1600" b="0" i="0" u="none" noProof="0" dirty="0">
                <a:solidFill>
                  <a:srgbClr val="000000"/>
                </a:solidFill>
              </a:rPr>
              <a:t>(a)  pouzdra na fotografické přístroje, pouzdra na hudební nástroje, pouzdra na zbraně, pouzdra na kreslicí nástroje, pouzdra na náhrdelníky a podobné schránky, zvlášť tvarované nebo upravené tak, aby obsahovaly určitý výrobek nebo soupravu výrobků, vhodné k dlouhodobému používání a předkládané s výrobky, pro které jsou určeny, se zařazují s těmito výrobky, pokud jsou obvykle prodávány společně. Toto pravidlo se však nepoužije na schránky, které dávají celku jeho podstatný charakter;</a:t>
            </a:r>
          </a:p>
          <a:p>
            <a:pPr marL="457200" lvl="1" indent="0">
              <a:buNone/>
            </a:pPr>
            <a:r>
              <a:rPr lang="cs-CZ" sz="1600" b="0" i="0" u="none" noProof="0" dirty="0"/>
              <a:t>(b) s výhradou ustanovení pravidla 5(a) se obalové materiály a obalové schránky předkládané se zbožím v nich zařazují spolu se zbožím, pokud jsou takového druhu, který se pro balení tohoto zboží obvykle používá. Toto ustanovení však není závazné, pokud jsou takové obalové materiály nebo obalové schránky zjevně vhodné k opakovanému použití.</a:t>
            </a:r>
          </a:p>
          <a:p>
            <a:endParaRPr lang="cs-CZ" sz="2000" b="0" i="0" u="none" strike="noStrike" baseline="0" dirty="0">
              <a:latin typeface="EUAlbertina"/>
            </a:endParaRPr>
          </a:p>
          <a:p>
            <a:pPr marL="0" indent="0">
              <a:buNone/>
            </a:pPr>
            <a:endParaRPr lang="cs-CZ" dirty="0"/>
          </a:p>
        </p:txBody>
      </p:sp>
    </p:spTree>
    <p:extLst>
      <p:ext uri="{BB962C8B-B14F-4D97-AF65-F5344CB8AC3E}">
        <p14:creationId xmlns:p14="http://schemas.microsoft.com/office/powerpoint/2010/main" val="593715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8CA96-EC34-A208-69AF-71B87AB7E4C6}"/>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950AD545-6C8C-8452-5E76-17F2087806F7}"/>
              </a:ext>
            </a:extLst>
          </p:cNvPr>
          <p:cNvSpPr>
            <a:spLocks noGrp="1"/>
          </p:cNvSpPr>
          <p:nvPr>
            <p:ph idx="1"/>
          </p:nvPr>
        </p:nvSpPr>
        <p:spPr>
          <a:xfrm>
            <a:off x="560070" y="429768"/>
            <a:ext cx="11018520" cy="5936742"/>
          </a:xfrm>
        </p:spPr>
        <p:txBody>
          <a:bodyPr/>
          <a:lstStyle/>
          <a:p>
            <a:pPr marL="0" indent="0" algn="ctr">
              <a:buNone/>
            </a:pPr>
            <a:r>
              <a:rPr lang="cs-CZ" dirty="0"/>
              <a:t>.</a:t>
            </a:r>
          </a:p>
        </p:txBody>
      </p:sp>
      <p:pic>
        <p:nvPicPr>
          <p:cNvPr id="4" name="Obrázek 3">
            <a:extLst>
              <a:ext uri="{FF2B5EF4-FFF2-40B4-BE49-F238E27FC236}">
                <a16:creationId xmlns:a16="http://schemas.microsoft.com/office/drawing/2014/main" id="{5CF5B6E3-7105-AD09-C4CE-3F2DBB358B6A}"/>
              </a:ext>
            </a:extLst>
          </p:cNvPr>
          <p:cNvPicPr>
            <a:picLocks noChangeAspect="1"/>
          </p:cNvPicPr>
          <p:nvPr/>
        </p:nvPicPr>
        <p:blipFill>
          <a:blip r:embed="rId2"/>
          <a:stretch>
            <a:fillRect/>
          </a:stretch>
        </p:blipFill>
        <p:spPr>
          <a:xfrm>
            <a:off x="2330450" y="429767"/>
            <a:ext cx="7207250" cy="6157675"/>
          </a:xfrm>
          <a:prstGeom prst="rect">
            <a:avLst/>
          </a:prstGeom>
        </p:spPr>
      </p:pic>
    </p:spTree>
    <p:extLst>
      <p:ext uri="{BB962C8B-B14F-4D97-AF65-F5344CB8AC3E}">
        <p14:creationId xmlns:p14="http://schemas.microsoft.com/office/powerpoint/2010/main" val="879534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EEB5-35C8-E7C0-408A-27682AEDA09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7070F78-B36F-54FF-6CDD-B86EC845B52B}"/>
              </a:ext>
            </a:extLst>
          </p:cNvPr>
          <p:cNvSpPr>
            <a:spLocks noGrp="1"/>
          </p:cNvSpPr>
          <p:nvPr>
            <p:ph type="title"/>
          </p:nvPr>
        </p:nvSpPr>
        <p:spPr>
          <a:xfrm>
            <a:off x="403860" y="237109"/>
            <a:ext cx="10515600" cy="503555"/>
          </a:xfrm>
        </p:spPr>
        <p:txBody>
          <a:bodyPr>
            <a:normAutofit/>
          </a:bodyPr>
          <a:lstStyle/>
          <a:p>
            <a:r>
              <a:rPr lang="cs-CZ" sz="2700" b="1" noProof="0" dirty="0">
                <a:latin typeface="+mn-lt"/>
              </a:rPr>
              <a:t>Postup při sazebním zařazování zboží</a:t>
            </a:r>
            <a:endParaRPr lang="cs-CZ" sz="2800" b="1" i="1" noProof="0" dirty="0">
              <a:latin typeface="+mn-lt"/>
            </a:endParaRPr>
          </a:p>
        </p:txBody>
      </p:sp>
      <p:sp>
        <p:nvSpPr>
          <p:cNvPr id="3" name="Zástupný obsah 2">
            <a:extLst>
              <a:ext uri="{FF2B5EF4-FFF2-40B4-BE49-F238E27FC236}">
                <a16:creationId xmlns:a16="http://schemas.microsoft.com/office/drawing/2014/main" id="{072F1CC0-208A-267D-9AB0-F65076CC4B18}"/>
              </a:ext>
            </a:extLst>
          </p:cNvPr>
          <p:cNvSpPr>
            <a:spLocks noGrp="1"/>
          </p:cNvSpPr>
          <p:nvPr>
            <p:ph idx="1"/>
          </p:nvPr>
        </p:nvSpPr>
        <p:spPr>
          <a:xfrm>
            <a:off x="403860" y="740664"/>
            <a:ext cx="10515600" cy="5752211"/>
          </a:xfrm>
        </p:spPr>
        <p:txBody>
          <a:bodyPr>
            <a:normAutofit/>
          </a:bodyPr>
          <a:lstStyle/>
          <a:p>
            <a:pPr marL="0" indent="0" eaLnBrk="1" hangingPunct="1">
              <a:buNone/>
            </a:pPr>
            <a:r>
              <a:rPr lang="cs-CZ" sz="1600" noProof="0" dirty="0"/>
              <a:t>Sazební zařazování zboží = klasifikace a číselné označení zboží – systematická činnost, při níž se určuje druh zboží a jeho místo v nomenklatuře celního sazebníku.</a:t>
            </a:r>
          </a:p>
          <a:p>
            <a:pPr marL="0" indent="0" eaLnBrk="1" hangingPunct="1">
              <a:buNone/>
            </a:pPr>
            <a:endParaRPr lang="cs-CZ" sz="1600" noProof="0" dirty="0"/>
          </a:p>
          <a:p>
            <a:pPr marL="342900" indent="-342900" eaLnBrk="1" hangingPunct="1">
              <a:buFont typeface="+mj-lt"/>
              <a:buAutoNum type="arabicPeriod"/>
            </a:pPr>
            <a:r>
              <a:rPr lang="cs-CZ" sz="1600" b="1" noProof="0" dirty="0"/>
              <a:t>Základní zbožíznalecké otázky (musíte znát odpověď na všechny 3 otázky!!!):</a:t>
            </a:r>
          </a:p>
          <a:p>
            <a:pPr lvl="1">
              <a:spcBef>
                <a:spcPts val="1200"/>
              </a:spcBef>
            </a:pPr>
            <a:r>
              <a:rPr lang="cs-CZ" sz="1600" b="1" noProof="0" dirty="0">
                <a:solidFill>
                  <a:srgbClr val="0070C0"/>
                </a:solidFill>
              </a:rPr>
              <a:t>CO TO JE? = popis zboží – o jaký druh zboží jde z hlediska jeho základních vlastností (mechanický stroj, hračka, doplněk stravy, textil...)</a:t>
            </a:r>
            <a:endParaRPr lang="cs-CZ" sz="1600" noProof="0" dirty="0">
              <a:solidFill>
                <a:srgbClr val="0070C0"/>
              </a:solidFill>
            </a:endParaRPr>
          </a:p>
          <a:p>
            <a:pPr lvl="1">
              <a:spcBef>
                <a:spcPts val="1200"/>
              </a:spcBef>
            </a:pPr>
            <a:r>
              <a:rPr lang="cs-CZ" sz="1600" b="1" noProof="0" dirty="0">
                <a:solidFill>
                  <a:srgbClr val="0070C0"/>
                </a:solidFill>
              </a:rPr>
              <a:t>Z ČEHO TO JE ? = složení zboží – z jakého materiálu / jakých komponent je zboží vyrobeno (např. plast, ocel, hliník, DPS osazená aktivními elektrickými prvky.....)</a:t>
            </a:r>
            <a:endParaRPr lang="cs-CZ" sz="1600" noProof="0" dirty="0">
              <a:solidFill>
                <a:srgbClr val="0070C0"/>
              </a:solidFill>
            </a:endParaRPr>
          </a:p>
          <a:p>
            <a:pPr lvl="1">
              <a:spcBef>
                <a:spcPts val="1200"/>
              </a:spcBef>
            </a:pPr>
            <a:r>
              <a:rPr lang="cs-CZ" sz="1600" b="1" noProof="0" dirty="0">
                <a:solidFill>
                  <a:srgbClr val="0070C0"/>
                </a:solidFill>
              </a:rPr>
              <a:t>K ČEMU TO JE / K ČEMU SE TO POUŽÍVÁ? = účel použití zboží – jaká je funkce zboží / k čemu je primárně určeno / na jakém principu funguje</a:t>
            </a:r>
            <a:endParaRPr lang="cs-CZ" sz="1600" noProof="0" dirty="0">
              <a:solidFill>
                <a:srgbClr val="0070C0"/>
              </a:solidFill>
            </a:endParaRPr>
          </a:p>
          <a:p>
            <a:pPr marL="342900" indent="-342900" eaLnBrk="1" hangingPunct="1">
              <a:buFont typeface="+mj-lt"/>
              <a:buAutoNum type="arabicPeriod"/>
            </a:pPr>
            <a:r>
              <a:rPr lang="cs-CZ" sz="1600" noProof="0" dirty="0"/>
              <a:t>Odpovědi vám umožní najít příslušnou třídu a kapitolu v celním sazebníku</a:t>
            </a:r>
          </a:p>
          <a:p>
            <a:pPr marL="342900" indent="-342900" eaLnBrk="1" hangingPunct="1">
              <a:buFont typeface="+mj-lt"/>
              <a:buAutoNum type="arabicPeriod"/>
            </a:pPr>
            <a:r>
              <a:rPr lang="cs-CZ" sz="1600" b="1" noProof="0" dirty="0"/>
              <a:t>Prostudujte úvodní poznámky ke třídě a kapitole – zda zboží není vyloučeno + vysvětlení použitých pojmů a vlastností výrobků</a:t>
            </a:r>
            <a:endParaRPr lang="cs-CZ" sz="1600" noProof="0" dirty="0"/>
          </a:p>
          <a:p>
            <a:pPr marL="342900" indent="-342900" eaLnBrk="1" hangingPunct="1">
              <a:buFont typeface="+mj-lt"/>
              <a:buAutoNum type="arabicPeriod"/>
            </a:pPr>
            <a:r>
              <a:rPr lang="cs-CZ" sz="1600" b="1" noProof="0" dirty="0"/>
              <a:t>Vyhledejte (v kapitole) příslušné číslo HS (4 číslice) a příslušnou položku HS (6 číslic)</a:t>
            </a:r>
          </a:p>
          <a:p>
            <a:pPr marL="342900" indent="-342900" eaLnBrk="1" hangingPunct="1">
              <a:buFont typeface="+mj-lt"/>
              <a:buAutoNum type="arabicPeriod"/>
            </a:pPr>
            <a:r>
              <a:rPr lang="cs-CZ" sz="1600" noProof="0" dirty="0"/>
              <a:t>Přesný popis vám umožní určit příslušnou podpoložku KN (8 číslic), případně také kód TARIC</a:t>
            </a:r>
          </a:p>
          <a:p>
            <a:pPr marL="0" indent="0" eaLnBrk="1" hangingPunct="1">
              <a:buNone/>
            </a:pPr>
            <a:endParaRPr lang="cs-CZ" sz="1800" noProof="0" dirty="0"/>
          </a:p>
          <a:p>
            <a:pPr marL="0" indent="0">
              <a:buNone/>
            </a:pPr>
            <a:endParaRPr lang="cs-CZ" sz="2000" dirty="0"/>
          </a:p>
        </p:txBody>
      </p:sp>
    </p:spTree>
    <p:extLst>
      <p:ext uri="{BB962C8B-B14F-4D97-AF65-F5344CB8AC3E}">
        <p14:creationId xmlns:p14="http://schemas.microsoft.com/office/powerpoint/2010/main" val="223329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4D96-2B03-7D9E-663C-0E72CA3AF9B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F472572-04A1-A771-C5DC-9FD7D42ED84D}"/>
              </a:ext>
            </a:extLst>
          </p:cNvPr>
          <p:cNvSpPr>
            <a:spLocks noGrp="1"/>
          </p:cNvSpPr>
          <p:nvPr>
            <p:ph type="title"/>
          </p:nvPr>
        </p:nvSpPr>
        <p:spPr>
          <a:xfrm>
            <a:off x="403860" y="488886"/>
            <a:ext cx="10515600" cy="503555"/>
          </a:xfrm>
        </p:spPr>
        <p:txBody>
          <a:bodyPr>
            <a:normAutofit/>
          </a:bodyPr>
          <a:lstStyle/>
          <a:p>
            <a:r>
              <a:rPr lang="cs-CZ" sz="2700" b="1" noProof="0" dirty="0">
                <a:latin typeface="+mn-lt"/>
              </a:rPr>
              <a:t>Postup při sazebním zařazování zboží</a:t>
            </a:r>
            <a:endParaRPr lang="cs-CZ" sz="2800" b="1" i="1" noProof="0" dirty="0">
              <a:latin typeface="+mn-lt"/>
            </a:endParaRPr>
          </a:p>
        </p:txBody>
      </p:sp>
      <p:sp>
        <p:nvSpPr>
          <p:cNvPr id="3" name="Zástupný obsah 2">
            <a:extLst>
              <a:ext uri="{FF2B5EF4-FFF2-40B4-BE49-F238E27FC236}">
                <a16:creationId xmlns:a16="http://schemas.microsoft.com/office/drawing/2014/main" id="{D29B8FFD-172C-5150-A1F2-938257B2E2D1}"/>
              </a:ext>
            </a:extLst>
          </p:cNvPr>
          <p:cNvSpPr>
            <a:spLocks noGrp="1"/>
          </p:cNvSpPr>
          <p:nvPr>
            <p:ph idx="1"/>
          </p:nvPr>
        </p:nvSpPr>
        <p:spPr>
          <a:xfrm>
            <a:off x="403860" y="1115569"/>
            <a:ext cx="10515600" cy="5065776"/>
          </a:xfrm>
        </p:spPr>
        <p:txBody>
          <a:bodyPr>
            <a:normAutofit/>
          </a:bodyPr>
          <a:lstStyle/>
          <a:p>
            <a:pPr marL="0" indent="0" eaLnBrk="1" hangingPunct="1">
              <a:buNone/>
            </a:pPr>
            <a:endParaRPr lang="cs-CZ" altLang="cs-CZ" sz="1600" dirty="0"/>
          </a:p>
          <a:p>
            <a:pPr marL="0" indent="0" eaLnBrk="1" hangingPunct="1">
              <a:spcBef>
                <a:spcPts val="200"/>
              </a:spcBef>
              <a:spcAft>
                <a:spcPts val="600"/>
              </a:spcAft>
              <a:buNone/>
            </a:pPr>
            <a:r>
              <a:rPr lang="cs-CZ" sz="1600" b="1" noProof="0" dirty="0"/>
              <a:t>Při zařazování zboží je nutné:</a:t>
            </a:r>
          </a:p>
          <a:p>
            <a:pPr eaLnBrk="1" hangingPunct="1">
              <a:lnSpc>
                <a:spcPct val="150000"/>
              </a:lnSpc>
              <a:spcBef>
                <a:spcPts val="200"/>
              </a:spcBef>
            </a:pPr>
            <a:r>
              <a:rPr lang="cs-CZ" sz="1600" b="1" noProof="0" dirty="0"/>
              <a:t>dodržovat Všeobecná pravidla pro výklad KN – VPV 1 až 6</a:t>
            </a:r>
          </a:p>
          <a:p>
            <a:pPr eaLnBrk="1" hangingPunct="1">
              <a:lnSpc>
                <a:spcPct val="150000"/>
              </a:lnSpc>
              <a:spcBef>
                <a:spcPts val="200"/>
              </a:spcBef>
            </a:pPr>
            <a:r>
              <a:rPr lang="cs-CZ" sz="1600" b="1" noProof="0" dirty="0"/>
              <a:t>respektovat Vysvětlivky k HS (WCO) a Vysvětlivky ke KN (EK)</a:t>
            </a:r>
          </a:p>
          <a:p>
            <a:pPr eaLnBrk="1" hangingPunct="1">
              <a:lnSpc>
                <a:spcPct val="150000"/>
              </a:lnSpc>
              <a:spcBef>
                <a:spcPts val="200"/>
              </a:spcBef>
            </a:pPr>
            <a:r>
              <a:rPr lang="cs-CZ" sz="1600" noProof="0" dirty="0"/>
              <a:t>stanoviska a rozhodnutí WCO k sazebnímu zařazování zboží</a:t>
            </a:r>
          </a:p>
          <a:p>
            <a:pPr eaLnBrk="1" hangingPunct="1">
              <a:lnSpc>
                <a:spcPct val="150000"/>
              </a:lnSpc>
              <a:spcBef>
                <a:spcPts val="200"/>
              </a:spcBef>
            </a:pPr>
            <a:r>
              <a:rPr lang="cs-CZ" sz="1600" b="1" noProof="0" dirty="0"/>
              <a:t>nařízení Komise o sazebním zařazení zboží</a:t>
            </a:r>
          </a:p>
          <a:p>
            <a:pPr eaLnBrk="1" hangingPunct="1">
              <a:lnSpc>
                <a:spcPct val="150000"/>
              </a:lnSpc>
              <a:spcBef>
                <a:spcPts val="200"/>
              </a:spcBef>
            </a:pPr>
            <a:r>
              <a:rPr lang="cs-CZ" sz="1600" noProof="0" dirty="0"/>
              <a:t>judikatura SDEU – rozhodujícím kritériem pro zařazení zboží jsou objektivní charakteristiky zboží a jeho vlastnosti, jak jsou vymezeny zněním podpoložek KN a poznámkami ke třídě nebo kapitole</a:t>
            </a:r>
          </a:p>
          <a:p>
            <a:pPr lvl="1" algn="just">
              <a:lnSpc>
                <a:spcPct val="150000"/>
              </a:lnSpc>
              <a:spcBef>
                <a:spcPts val="200"/>
              </a:spcBef>
            </a:pPr>
            <a:r>
              <a:rPr lang="cs-CZ" sz="1600" noProof="0" dirty="0"/>
              <a:t>Objektivní charakteristiky = složení zboží (souhrn základních fyzikálních a chemických vlastností, které jsou objektivně měřitelné) a zamýšlené použití zboží</a:t>
            </a:r>
            <a:endParaRPr lang="cs-CZ" sz="1600" b="1" noProof="0" dirty="0"/>
          </a:p>
          <a:p>
            <a:pPr eaLnBrk="1" hangingPunct="1"/>
            <a:endParaRPr lang="cs-CZ" altLang="cs-CZ" sz="1600" dirty="0"/>
          </a:p>
          <a:p>
            <a:pPr marL="0" indent="0">
              <a:buNone/>
            </a:pPr>
            <a:endParaRPr lang="cs-CZ" sz="2000" dirty="0"/>
          </a:p>
        </p:txBody>
      </p:sp>
    </p:spTree>
    <p:extLst>
      <p:ext uri="{BB962C8B-B14F-4D97-AF65-F5344CB8AC3E}">
        <p14:creationId xmlns:p14="http://schemas.microsoft.com/office/powerpoint/2010/main" val="2075224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FBEE-DEFA-FDF9-59C1-99F25DF1BC7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A079534-E4AA-199D-62E2-1AE51612C88F}"/>
              </a:ext>
            </a:extLst>
          </p:cNvPr>
          <p:cNvSpPr>
            <a:spLocks noGrp="1"/>
          </p:cNvSpPr>
          <p:nvPr>
            <p:ph type="title"/>
          </p:nvPr>
        </p:nvSpPr>
        <p:spPr>
          <a:xfrm>
            <a:off x="403860" y="308610"/>
            <a:ext cx="10515600" cy="459804"/>
          </a:xfrm>
        </p:spPr>
        <p:txBody>
          <a:bodyPr>
            <a:normAutofit fontScale="90000"/>
          </a:bodyPr>
          <a:lstStyle/>
          <a:p>
            <a:r>
              <a:rPr lang="cs-CZ" sz="2700" b="1" noProof="0" dirty="0">
                <a:latin typeface="+mn-lt"/>
              </a:rPr>
              <a:t>Sazební zařazení zboží</a:t>
            </a:r>
            <a:endParaRPr lang="cs-CZ" sz="2800" b="1" i="1" noProof="0" dirty="0">
              <a:latin typeface="+mn-lt"/>
            </a:endParaRPr>
          </a:p>
        </p:txBody>
      </p:sp>
      <p:sp>
        <p:nvSpPr>
          <p:cNvPr id="3" name="Zástupný obsah 2">
            <a:extLst>
              <a:ext uri="{FF2B5EF4-FFF2-40B4-BE49-F238E27FC236}">
                <a16:creationId xmlns:a16="http://schemas.microsoft.com/office/drawing/2014/main" id="{9C692A16-D0FA-8B72-98D0-11AD60D8F1E6}"/>
              </a:ext>
            </a:extLst>
          </p:cNvPr>
          <p:cNvSpPr>
            <a:spLocks noGrp="1"/>
          </p:cNvSpPr>
          <p:nvPr>
            <p:ph idx="1"/>
          </p:nvPr>
        </p:nvSpPr>
        <p:spPr>
          <a:xfrm>
            <a:off x="403860" y="768414"/>
            <a:ext cx="8321040" cy="5780975"/>
          </a:xfrm>
        </p:spPr>
        <p:txBody>
          <a:bodyPr>
            <a:normAutofit/>
          </a:bodyPr>
          <a:lstStyle/>
          <a:p>
            <a:pPr marL="0" indent="0">
              <a:buNone/>
            </a:pPr>
            <a:r>
              <a:rPr lang="cs-CZ" sz="1600" b="1" i="0" u="none" noProof="0" dirty="0">
                <a:solidFill>
                  <a:srgbClr val="000000"/>
                </a:solidFill>
                <a:latin typeface="EUAlbertina"/>
              </a:rPr>
              <a:t>Zelený čaj, balení 20 jednotlivě zabalených sáčků (2 g) v papírové krabičce, hmotnost 40 g, ochucený granátovým jablkem   	</a:t>
            </a:r>
          </a:p>
          <a:p>
            <a:pPr lvl="1">
              <a:spcBef>
                <a:spcPts val="1200"/>
              </a:spcBef>
            </a:pPr>
            <a:r>
              <a:rPr lang="cs-CZ" sz="1600" b="1" noProof="0" dirty="0">
                <a:solidFill>
                  <a:srgbClr val="0070C0"/>
                </a:solidFill>
              </a:rPr>
              <a:t>CO TO JE? = ochucený zelený čaj, porcovaný ve 20 balených sáčcích (rostlinné produkty)</a:t>
            </a:r>
          </a:p>
          <a:p>
            <a:pPr lvl="1">
              <a:spcBef>
                <a:spcPts val="1200"/>
              </a:spcBef>
            </a:pPr>
            <a:r>
              <a:rPr lang="cs-CZ" sz="1600" b="1" noProof="0" dirty="0">
                <a:solidFill>
                  <a:srgbClr val="0070C0"/>
                </a:solidFill>
              </a:rPr>
              <a:t>Z ČEHO JE TO VYROBENO? = zelený čaj v sáčcích z netkané textilie, obal sáčků, potištěná papírová krabička</a:t>
            </a:r>
          </a:p>
          <a:p>
            <a:pPr lvl="1">
              <a:spcBef>
                <a:spcPts val="1200"/>
              </a:spcBef>
            </a:pPr>
            <a:r>
              <a:rPr lang="cs-CZ" sz="1600" b="1" noProof="0" dirty="0">
                <a:solidFill>
                  <a:srgbClr val="0070C0"/>
                </a:solidFill>
              </a:rPr>
              <a:t>K ČEMU SE TO POUŽÍVÁ? = k přípravě horkého/studeného čaje</a:t>
            </a:r>
            <a:endParaRPr lang="cs-CZ" sz="1600" noProof="0" dirty="0"/>
          </a:p>
          <a:p>
            <a:pPr marL="0" indent="0">
              <a:spcBef>
                <a:spcPts val="1200"/>
              </a:spcBef>
              <a:buNone/>
            </a:pPr>
            <a:endParaRPr lang="cs-CZ" sz="1600" i="1" noProof="0" dirty="0"/>
          </a:p>
          <a:p>
            <a:pPr marL="0" indent="0">
              <a:spcBef>
                <a:spcPts val="1200"/>
              </a:spcBef>
              <a:buNone/>
            </a:pPr>
            <a:r>
              <a:rPr lang="cs-CZ" sz="1600" i="1" noProof="0" dirty="0"/>
              <a:t>Určení kódu KN (celní sazebník)</a:t>
            </a:r>
          </a:p>
          <a:p>
            <a:pPr marL="0" indent="0">
              <a:spcBef>
                <a:spcPts val="1200"/>
              </a:spcBef>
              <a:buNone/>
            </a:pPr>
            <a:r>
              <a:rPr lang="cs-CZ" sz="1600" i="1" noProof="0" dirty="0"/>
              <a:t>Postup:</a:t>
            </a:r>
          </a:p>
          <a:p>
            <a:pPr marL="0" indent="0">
              <a:spcBef>
                <a:spcPts val="1200"/>
              </a:spcBef>
              <a:buNone/>
            </a:pPr>
            <a:r>
              <a:rPr lang="cs-CZ" sz="1600" noProof="0" dirty="0"/>
              <a:t>V celním sazebníku najděte TŘÍDU II „ROSTLINNÉ PRODUKTY“ a v rámci této třídy kapitolu 9 „KÁVA, ČAJ, MATÉ A KOŘENÍ“ a poté podle VPV 1 vyhledejte pro dané zboží odpovídající číslo 0902 HS „Čaj, též aromatizovaný:“.</a:t>
            </a:r>
          </a:p>
          <a:p>
            <a:pPr marL="0" indent="0">
              <a:spcBef>
                <a:spcPts val="1200"/>
              </a:spcBef>
              <a:buNone/>
            </a:pPr>
            <a:r>
              <a:rPr lang="cs-CZ" sz="1600" noProof="0" dirty="0"/>
              <a:t>Seznamte se s poznámkami a doplňkovými poznámkami ke kapitole 9, kde zjistíte, že se zařazovaného zboží netýkají; poté postupuji v rámci čísla 0902 HS, které je rozděleno do několika podpoložek KN.</a:t>
            </a:r>
          </a:p>
          <a:p>
            <a:pPr marL="0" indent="0">
              <a:spcBef>
                <a:spcPts val="1200"/>
              </a:spcBef>
              <a:buNone/>
            </a:pPr>
            <a:r>
              <a:rPr lang="cs-CZ" sz="1600" noProof="0" dirty="0"/>
              <a:t>Znění první podpoložky 0902 10 00 KN „– Zelený čaj (nefermentovaný) v bezprostředním obalu o obsahu nepřesahujícím 3 kg“ odpovídá povaze zařazovaného zboží – jde o ochucený zelený čaj, který není fermentovaný / neprošel fermentací jako černý čaj, s bezprostřední hmotností 2 g / 40 g.</a:t>
            </a:r>
          </a:p>
        </p:txBody>
      </p:sp>
      <p:pic>
        <p:nvPicPr>
          <p:cNvPr id="4" name="Obrázek 3">
            <a:extLst>
              <a:ext uri="{FF2B5EF4-FFF2-40B4-BE49-F238E27FC236}">
                <a16:creationId xmlns:a16="http://schemas.microsoft.com/office/drawing/2014/main" id="{EB6F3203-EDFF-FEA1-064E-942E54BE9FA5}"/>
              </a:ext>
            </a:extLst>
          </p:cNvPr>
          <p:cNvPicPr>
            <a:picLocks noChangeAspect="1"/>
          </p:cNvPicPr>
          <p:nvPr/>
        </p:nvPicPr>
        <p:blipFill>
          <a:blip r:embed="rId2"/>
          <a:stretch>
            <a:fillRect/>
          </a:stretch>
        </p:blipFill>
        <p:spPr>
          <a:xfrm>
            <a:off x="8930640" y="2268251"/>
            <a:ext cx="1390650" cy="1390650"/>
          </a:xfrm>
          <a:prstGeom prst="rect">
            <a:avLst/>
          </a:prstGeom>
        </p:spPr>
      </p:pic>
    </p:spTree>
    <p:extLst>
      <p:ext uri="{BB962C8B-B14F-4D97-AF65-F5344CB8AC3E}">
        <p14:creationId xmlns:p14="http://schemas.microsoft.com/office/powerpoint/2010/main" val="3323688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7210-171E-180E-E503-25FC061836F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183602D-B5DD-6C98-AC08-A629022127C1}"/>
              </a:ext>
            </a:extLst>
          </p:cNvPr>
          <p:cNvSpPr>
            <a:spLocks noGrp="1"/>
          </p:cNvSpPr>
          <p:nvPr>
            <p:ph type="title"/>
          </p:nvPr>
        </p:nvSpPr>
        <p:spPr>
          <a:xfrm>
            <a:off x="838200" y="639445"/>
            <a:ext cx="10515600" cy="629285"/>
          </a:xfrm>
        </p:spPr>
        <p:txBody>
          <a:bodyPr>
            <a:normAutofit/>
          </a:bodyPr>
          <a:lstStyle/>
          <a:p>
            <a:r>
              <a:rPr lang="cs-CZ" sz="3200" b="1" noProof="0" dirty="0" err="1"/>
              <a:t>Workflow</a:t>
            </a:r>
            <a:r>
              <a:rPr lang="cs-CZ" sz="3200" b="1" noProof="0" dirty="0"/>
              <a:t> pro určení sazebního zařazení</a:t>
            </a:r>
          </a:p>
        </p:txBody>
      </p:sp>
      <p:sp>
        <p:nvSpPr>
          <p:cNvPr id="3" name="Zástupný obsah 2">
            <a:extLst>
              <a:ext uri="{FF2B5EF4-FFF2-40B4-BE49-F238E27FC236}">
                <a16:creationId xmlns:a16="http://schemas.microsoft.com/office/drawing/2014/main" id="{20B6CA87-7950-50B5-AA19-B1D6D83DC723}"/>
              </a:ext>
            </a:extLst>
          </p:cNvPr>
          <p:cNvSpPr>
            <a:spLocks noGrp="1"/>
          </p:cNvSpPr>
          <p:nvPr>
            <p:ph idx="1"/>
          </p:nvPr>
        </p:nvSpPr>
        <p:spPr>
          <a:xfrm>
            <a:off x="838200" y="1268730"/>
            <a:ext cx="10515600" cy="4908233"/>
          </a:xfrm>
        </p:spPr>
        <p:txBody>
          <a:bodyPr>
            <a:normAutofit/>
          </a:bodyPr>
          <a:lstStyle/>
          <a:p>
            <a:pPr indent="270510" algn="just">
              <a:buNone/>
            </a:pPr>
            <a:r>
              <a:rPr sz="1100" dirty="0">
                <a:latin typeface="Arial"/>
              </a:rPr>
              <a:t> </a:t>
            </a:r>
            <a:endParaRPr lang="cs-CZ"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gn="just">
              <a:spcBef>
                <a:spcPts val="1800"/>
              </a:spcBef>
              <a:buFont typeface="+mj-lt"/>
              <a:buAutoNum type="arabicPeriod"/>
            </a:pPr>
            <a:r>
              <a:rPr lang="cs-CZ" sz="1600" noProof="0" dirty="0">
                <a:latin typeface="Arial"/>
              </a:rPr>
              <a:t>Získejte od zákazníka (dovozce/vývozce) přesný popis zboží včetně obchodního názvu (v souladu s údaji na faktuře), čísla dílu dovozce/vývozce (je-li k dispozici), materiálového složení zboží a jeho funkce, tj. účelu použití.</a:t>
            </a:r>
            <a:endParaRPr lang="cs-CZ" sz="1600" noProof="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spcBef>
                <a:spcPts val="1800"/>
              </a:spcBef>
              <a:buFont typeface="+mj-lt"/>
              <a:buAutoNum type="arabicPeriod"/>
            </a:pPr>
            <a:r>
              <a:rPr lang="cs-CZ" sz="1600" noProof="0" dirty="0">
                <a:latin typeface="Arial"/>
              </a:rPr>
              <a:t>Je-li to možné, vyžádejte si obrázek nebo technickou dokumentaci (výkresy, specifikace, bezpečnostní listy, produktové listy apod.), která umožní ověřit a doplnit informace o dováženém/vyváženém zboží.</a:t>
            </a:r>
            <a:endParaRPr lang="cs-CZ" sz="1600" noProof="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spcBef>
                <a:spcPts val="1800"/>
              </a:spcBef>
              <a:buFont typeface="+mj-lt"/>
              <a:buAutoNum type="arabicPeriod"/>
            </a:pPr>
            <a:r>
              <a:rPr lang="cs-CZ" sz="1600" noProof="0" dirty="0">
                <a:latin typeface="Arial"/>
              </a:rPr>
              <a:t>Na základě dostupných informačních zdrojů (včetně internetu) a za použití znění poznámek ke třídám, kapitolám, číslům a podpoložkám, případně s přihlédnutím k informacím uvedeným ve vysvětlivkách, určete sazební zařazení zboží.</a:t>
            </a:r>
            <a:endParaRPr lang="cs-CZ" sz="1600" noProof="0" dirty="0">
              <a:effectLst/>
              <a:latin typeface="Arial" panose="020B0604020202020204" pitchFamily="34" charset="0"/>
              <a:ea typeface="Times New Roman" panose="02020603050405020304" pitchFamily="18" charset="0"/>
              <a:cs typeface="Arial" panose="020B0604020202020204" pitchFamily="34" charset="0"/>
            </a:endParaRPr>
          </a:p>
          <a:p>
            <a:pPr marL="342900" indent="-342900" algn="just">
              <a:spcBef>
                <a:spcPts val="1800"/>
              </a:spcBef>
              <a:buFont typeface="+mj-lt"/>
              <a:buAutoNum type="arabicPeriod"/>
            </a:pPr>
            <a:r>
              <a:rPr lang="cs-CZ" sz="1600" noProof="0" dirty="0">
                <a:latin typeface="Arial"/>
              </a:rPr>
              <a:t>Při zpracování celního prohlášení věnujte pozornost správnému popisu zboží v kolonce 31 předkládaného celního prohlášení.</a:t>
            </a:r>
            <a:endParaRPr lang="cs-CZ" sz="1600" noProof="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cs-CZ" dirty="0"/>
          </a:p>
        </p:txBody>
      </p:sp>
    </p:spTree>
    <p:extLst>
      <p:ext uri="{BB962C8B-B14F-4D97-AF65-F5344CB8AC3E}">
        <p14:creationId xmlns:p14="http://schemas.microsoft.com/office/powerpoint/2010/main" val="1748117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AA357-A0F0-09D1-F6C1-3B06D8A2DB3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9E7FF09-B56D-934F-1125-6F06BDD751EB}"/>
              </a:ext>
            </a:extLst>
          </p:cNvPr>
          <p:cNvSpPr>
            <a:spLocks noGrp="1"/>
          </p:cNvSpPr>
          <p:nvPr>
            <p:ph type="title"/>
          </p:nvPr>
        </p:nvSpPr>
        <p:spPr/>
        <p:txBody>
          <a:bodyPr>
            <a:normAutofit/>
          </a:bodyPr>
          <a:lstStyle/>
          <a:p>
            <a:pPr algn="ctr"/>
            <a:r>
              <a:rPr sz="3600" b="1" dirty="0"/>
              <a:t>Co </a:t>
            </a:r>
            <a:r>
              <a:rPr sz="3600" b="1" dirty="0" err="1"/>
              <a:t>když</a:t>
            </a:r>
            <a:r>
              <a:rPr sz="3600" b="1" dirty="0"/>
              <a:t> </a:t>
            </a:r>
            <a:r>
              <a:rPr sz="3600" b="1" dirty="0" err="1"/>
              <a:t>nevím</a:t>
            </a:r>
            <a:r>
              <a:rPr sz="3600" b="1" dirty="0"/>
              <a:t>, jak </a:t>
            </a:r>
            <a:r>
              <a:rPr sz="3600" b="1" dirty="0" err="1"/>
              <a:t>postupovat</a:t>
            </a:r>
            <a:r>
              <a:rPr sz="3600" b="1" dirty="0"/>
              <a:t> / </a:t>
            </a:r>
            <a:r>
              <a:rPr sz="3600" b="1" dirty="0" err="1"/>
              <a:t>mám</a:t>
            </a:r>
            <a:r>
              <a:rPr sz="3600" b="1" dirty="0"/>
              <a:t> </a:t>
            </a:r>
            <a:r>
              <a:rPr sz="3600" b="1" dirty="0" err="1"/>
              <a:t>pochybnosti</a:t>
            </a:r>
            <a:r>
              <a:rPr sz="3600" b="1" dirty="0"/>
              <a:t> o </a:t>
            </a:r>
            <a:r>
              <a:rPr sz="3600" b="1" dirty="0" err="1"/>
              <a:t>sazebním</a:t>
            </a:r>
            <a:r>
              <a:rPr sz="3600" b="1" dirty="0"/>
              <a:t> </a:t>
            </a:r>
            <a:r>
              <a:rPr sz="3600" b="1" dirty="0" err="1"/>
              <a:t>zařazení</a:t>
            </a:r>
            <a:r>
              <a:rPr sz="3600" b="1" dirty="0"/>
              <a:t>?</a:t>
            </a:r>
            <a:endParaRPr lang="cs-CZ" sz="3600" b="1" dirty="0"/>
          </a:p>
        </p:txBody>
      </p:sp>
      <p:pic>
        <p:nvPicPr>
          <p:cNvPr id="4" name="Zástupný obsah 3">
            <a:extLst>
              <a:ext uri="{FF2B5EF4-FFF2-40B4-BE49-F238E27FC236}">
                <a16:creationId xmlns:a16="http://schemas.microsoft.com/office/drawing/2014/main" id="{7328FA8C-B9E5-1BA0-B18F-9180FF4A54CE}"/>
              </a:ext>
            </a:extLst>
          </p:cNvPr>
          <p:cNvPicPr>
            <a:picLocks noGrp="1" noChangeAspect="1"/>
          </p:cNvPicPr>
          <p:nvPr>
            <p:ph idx="1"/>
          </p:nvPr>
        </p:nvPicPr>
        <p:blipFill>
          <a:blip r:embed="rId2"/>
          <a:stretch>
            <a:fillRect/>
          </a:stretch>
        </p:blipFill>
        <p:spPr>
          <a:xfrm>
            <a:off x="3545277" y="2026793"/>
            <a:ext cx="4356210" cy="4351338"/>
          </a:xfrm>
          <a:prstGeom prst="rect">
            <a:avLst/>
          </a:prstGeom>
        </p:spPr>
      </p:pic>
    </p:spTree>
    <p:extLst>
      <p:ext uri="{BB962C8B-B14F-4D97-AF65-F5344CB8AC3E}">
        <p14:creationId xmlns:p14="http://schemas.microsoft.com/office/powerpoint/2010/main" val="1908293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9A87-F829-0AF6-10EE-4F59C0FB7D00}"/>
            </a:ext>
          </a:extLst>
        </p:cNvPr>
        <p:cNvGrpSpPr/>
        <p:nvPr/>
      </p:nvGrpSpPr>
      <p:grpSpPr>
        <a:xfrm>
          <a:off x="0" y="0"/>
          <a:ext cx="0" cy="0"/>
          <a:chOff x="0" y="0"/>
          <a:chExt cx="0" cy="0"/>
        </a:xfrm>
      </p:grpSpPr>
      <p:sp>
        <p:nvSpPr>
          <p:cNvPr id="3" name="Zástupný obsah 2">
            <a:extLst>
              <a:ext uri="{FF2B5EF4-FFF2-40B4-BE49-F238E27FC236}">
                <a16:creationId xmlns:a16="http://schemas.microsoft.com/office/drawing/2014/main" id="{F21F1D09-C967-C75C-B39B-AB712970D118}"/>
              </a:ext>
            </a:extLst>
          </p:cNvPr>
          <p:cNvSpPr>
            <a:spLocks noGrp="1"/>
          </p:cNvSpPr>
          <p:nvPr>
            <p:ph idx="1"/>
          </p:nvPr>
        </p:nvSpPr>
        <p:spPr/>
        <p:txBody>
          <a:bodyPr/>
          <a:lstStyle/>
          <a:p>
            <a:r>
              <a:rPr lang="cs-CZ" sz="2400" noProof="0" dirty="0"/>
              <a:t>kontaktujte tarifní </a:t>
            </a:r>
            <a:r>
              <a:rPr lang="en-GB" sz="2400" noProof="0" dirty="0"/>
              <a:t>t</a:t>
            </a:r>
            <a:r>
              <a:rPr lang="en-GB" sz="2400" dirty="0"/>
              <a:t>ea</a:t>
            </a:r>
            <a:r>
              <a:rPr lang="en-GB" sz="2400" noProof="0" dirty="0"/>
              <a:t>m</a:t>
            </a:r>
            <a:r>
              <a:rPr lang="cs-CZ" sz="2400" noProof="0" dirty="0"/>
              <a:t> </a:t>
            </a:r>
            <a:r>
              <a:rPr lang="cs-CZ" sz="2400" dirty="0"/>
              <a:t>prostřednictvím </a:t>
            </a:r>
            <a:r>
              <a:rPr lang="cs-CZ" sz="2400" noProof="0" dirty="0"/>
              <a:t>e-mailu: </a:t>
            </a:r>
            <a:r>
              <a:rPr lang="en-US" sz="2400" noProof="0" dirty="0"/>
              <a:t>customs.tariff@mauriceward.c</a:t>
            </a:r>
            <a:r>
              <a:rPr lang="en-US" sz="2400" dirty="0"/>
              <a:t>om</a:t>
            </a:r>
            <a:endParaRPr lang="en-US" sz="2400" noProof="0" dirty="0"/>
          </a:p>
          <a:p>
            <a:r>
              <a:rPr lang="cs-CZ" sz="2400" noProof="0" dirty="0"/>
              <a:t>v e-mailu uveďte všechny informace, které jste o dováženém/vyváženém zboží zjistil(a) (aby bylo možné odpovědět na tři otázky), informace o tom, odkud se zboží obchoduje, původ, a přiložte dokumentaci ke zboží (faktury, PL, technické a produktové listy, bezpečnostní listy, obrázky apod.)</a:t>
            </a:r>
          </a:p>
          <a:p>
            <a:pPr marL="0" indent="0">
              <a:buNone/>
            </a:pPr>
            <a:endParaRPr lang="cs-CZ" dirty="0"/>
          </a:p>
          <a:p>
            <a:pPr marL="0" indent="0">
              <a:buNone/>
            </a:pPr>
            <a:endParaRPr lang="cs-CZ" dirty="0"/>
          </a:p>
        </p:txBody>
      </p:sp>
    </p:spTree>
    <p:extLst>
      <p:ext uri="{BB962C8B-B14F-4D97-AF65-F5344CB8AC3E}">
        <p14:creationId xmlns:p14="http://schemas.microsoft.com/office/powerpoint/2010/main" val="2235013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A2231D5-2945-5D6A-2845-051A8E92835F}"/>
              </a:ext>
            </a:extLst>
          </p:cNvPr>
          <p:cNvSpPr>
            <a:spLocks noGrp="1"/>
          </p:cNvSpPr>
          <p:nvPr>
            <p:ph type="title"/>
          </p:nvPr>
        </p:nvSpPr>
        <p:spPr/>
        <p:txBody>
          <a:bodyPr>
            <a:normAutofit/>
          </a:bodyPr>
          <a:lstStyle/>
          <a:p>
            <a:r>
              <a:rPr lang="cs-CZ" sz="2800" b="1" dirty="0"/>
              <a:t>Testové otázky</a:t>
            </a:r>
            <a:br>
              <a:rPr lang="cs-CZ" sz="2400" b="1" dirty="0"/>
            </a:br>
            <a:r>
              <a:rPr lang="cs-CZ" sz="2400" i="1" dirty="0"/>
              <a:t>Zkuste zařadit následující zboží do celního sazebníku EU / zjistit kód KN                       (příprava na druhou část školení)</a:t>
            </a:r>
            <a:endParaRPr lang="cs-CZ" sz="2400" b="1" i="1" dirty="0"/>
          </a:p>
        </p:txBody>
      </p:sp>
      <p:sp>
        <p:nvSpPr>
          <p:cNvPr id="3" name="Zástupný obsah 2">
            <a:extLst>
              <a:ext uri="{FF2B5EF4-FFF2-40B4-BE49-F238E27FC236}">
                <a16:creationId xmlns:a16="http://schemas.microsoft.com/office/drawing/2014/main" id="{FF92BAE6-A869-3074-D061-45A9135BAB6D}"/>
              </a:ext>
            </a:extLst>
          </p:cNvPr>
          <p:cNvSpPr>
            <a:spLocks noGrp="1"/>
          </p:cNvSpPr>
          <p:nvPr>
            <p:ph idx="1"/>
          </p:nvPr>
        </p:nvSpPr>
        <p:spPr/>
        <p:txBody>
          <a:bodyPr/>
          <a:lstStyle/>
          <a:p>
            <a:pPr marL="342900" indent="-342900">
              <a:spcBef>
                <a:spcPts val="1800"/>
              </a:spcBef>
              <a:buFont typeface="+mj-lt"/>
              <a:buAutoNum type="arabicPeriod"/>
            </a:pPr>
            <a:r>
              <a:rPr lang="cs-CZ" dirty="0"/>
              <a:t>Čaj oolong (zelený čaj, částečně fermentovaný), balené sáčky po 3 g.</a:t>
            </a:r>
            <a:endParaRPr lang="cs-CZ" i="1" dirty="0">
              <a:ea typeface="Times New Roman" panose="02020603050405020304" pitchFamily="18" charset="0"/>
              <a:cs typeface="Arial" panose="020B0604020202020204" pitchFamily="34" charset="0"/>
            </a:endParaRPr>
          </a:p>
          <a:p>
            <a:pPr marL="342900" lvl="0" indent="-342900">
              <a:spcBef>
                <a:spcPts val="1800"/>
              </a:spcBef>
              <a:buFont typeface="+mj-lt"/>
              <a:buAutoNum type="arabicPeriod"/>
            </a:pPr>
            <a:r>
              <a:rPr lang="cs-CZ" dirty="0"/>
              <a:t>Elektrický stejnosměrný motor, synchronní motor, o výkonu 18 W.</a:t>
            </a:r>
          </a:p>
          <a:p>
            <a:pPr marL="342900" indent="-342900">
              <a:spcBef>
                <a:spcPts val="1800"/>
              </a:spcBef>
              <a:buFont typeface="+mj-lt"/>
              <a:buAutoNum type="arabicPeriod"/>
            </a:pPr>
            <a:r>
              <a:rPr lang="cs-CZ" dirty="0"/>
              <a:t>Statorová kola proudového motoru (části/součásti proudového motoru s tahem 130 kN).</a:t>
            </a:r>
          </a:p>
        </p:txBody>
      </p:sp>
    </p:spTree>
    <p:extLst>
      <p:ext uri="{BB962C8B-B14F-4D97-AF65-F5344CB8AC3E}">
        <p14:creationId xmlns:p14="http://schemas.microsoft.com/office/powerpoint/2010/main" val="810777038"/>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5377</TotalTime>
  <Words>2555</Words>
  <Application>Microsoft Office PowerPoint</Application>
  <PresentationFormat>Širokoúhlá obrazovka</PresentationFormat>
  <Paragraphs>181</Paragraphs>
  <Slides>24</Slides>
  <Notes>3</Notes>
  <HiddenSlides>0</HiddenSlides>
  <MMClips>0</MMClips>
  <ScaleCrop>false</ScaleCrop>
  <HeadingPairs>
    <vt:vector size="6" baseType="variant">
      <vt:variant>
        <vt:lpstr>Použitá písma</vt:lpstr>
      </vt:variant>
      <vt:variant>
        <vt:i4>5</vt:i4>
      </vt:variant>
      <vt:variant>
        <vt:lpstr>Motiv</vt:lpstr>
      </vt:variant>
      <vt:variant>
        <vt:i4>1</vt:i4>
      </vt:variant>
      <vt:variant>
        <vt:lpstr>Nadpisy snímků</vt:lpstr>
      </vt:variant>
      <vt:variant>
        <vt:i4>24</vt:i4>
      </vt:variant>
    </vt:vector>
  </HeadingPairs>
  <TitlesOfParts>
    <vt:vector size="30" baseType="lpstr">
      <vt:lpstr>Arial</vt:lpstr>
      <vt:lpstr>Calibri</vt:lpstr>
      <vt:lpstr>Calibri Light</vt:lpstr>
      <vt:lpstr>EUAlbertina</vt:lpstr>
      <vt:lpstr>Times New Roman</vt:lpstr>
      <vt:lpstr>Motiv Office</vt:lpstr>
      <vt:lpstr>Společný celní sazebník EU</vt:lpstr>
      <vt:lpstr>Společný celní sazebník EU</vt:lpstr>
      <vt:lpstr>Struktura společného celního sazebníku</vt:lpstr>
      <vt:lpstr>Společný celní sazebník Obecná část                                                                               Nomenklaturní + tarifní část</vt:lpstr>
      <vt:lpstr>Struktura celního sazebníku Nomenklaturní část</vt:lpstr>
      <vt:lpstr>Harmonizovaný systém (HS)</vt:lpstr>
      <vt:lpstr>Kombinovaná nomenklatura</vt:lpstr>
      <vt:lpstr>TARIC</vt:lpstr>
      <vt:lpstr>TARIC</vt:lpstr>
      <vt:lpstr>Prezentace aplikace PowerPoint</vt:lpstr>
      <vt:lpstr>Všeobecná pravidla pro výklad KN (VPV KN)</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Postup při sazebním zařazování zboží</vt:lpstr>
      <vt:lpstr>Postup při sazebním zařazování zboží</vt:lpstr>
      <vt:lpstr>Sazební zařazení zboží</vt:lpstr>
      <vt:lpstr>Workflow pro určení sazebního zařazení</vt:lpstr>
      <vt:lpstr>Co když nevím, jak postupovat / mám pochybnosti o sazebním zařazení?</vt:lpstr>
      <vt:lpstr>Prezentace aplikace PowerPoint</vt:lpstr>
      <vt:lpstr>Testové otázky Zkuste zařadit následující zboží do celního sazebníku EU / zjistit kód KN                       (příprava na druhou část školení)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Věra Šimunková</dc:creator>
  <cp:lastModifiedBy>Věra Šimunková</cp:lastModifiedBy>
  <cp:revision>72</cp:revision>
  <dcterms:created xsi:type="dcterms:W3CDTF">2025-05-06T14:29:22Z</dcterms:created>
  <dcterms:modified xsi:type="dcterms:W3CDTF">2026-09-11T13:38:08Z</dcterms:modified>
</cp:coreProperties>
</file>